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A36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A36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37417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4459" y="686758"/>
            <a:ext cx="16219081" cy="1235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92459" y="4538411"/>
            <a:ext cx="9244330" cy="273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A362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92459" y="2311034"/>
            <a:ext cx="8879205" cy="17303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830"/>
              </a:lnSpc>
            </a:pPr>
            <a:r>
              <a:rPr dirty="0" sz="5500" spc="254"/>
              <a:t>HR</a:t>
            </a:r>
            <a:r>
              <a:rPr dirty="0" sz="5500" spc="240"/>
              <a:t> </a:t>
            </a:r>
            <a:r>
              <a:rPr dirty="0" sz="5500" spc="100"/>
              <a:t>Analysis</a:t>
            </a:r>
            <a:r>
              <a:rPr dirty="0" sz="5500" spc="240"/>
              <a:t> </a:t>
            </a:r>
            <a:r>
              <a:rPr dirty="0" sz="5500"/>
              <a:t>&amp;</a:t>
            </a:r>
            <a:r>
              <a:rPr dirty="0" sz="5500" spc="245"/>
              <a:t> </a:t>
            </a:r>
            <a:r>
              <a:rPr dirty="0" sz="5500" spc="215"/>
              <a:t>Performance </a:t>
            </a:r>
            <a:r>
              <a:rPr dirty="0" sz="5500" spc="170"/>
              <a:t>Insights</a:t>
            </a:r>
            <a:endParaRPr sz="5500"/>
          </a:p>
        </p:txBody>
      </p:sp>
      <p:sp>
        <p:nvSpPr>
          <p:cNvPr id="4" name="object 4" descr=""/>
          <p:cNvSpPr txBox="1"/>
          <p:nvPr/>
        </p:nvSpPr>
        <p:spPr>
          <a:xfrm>
            <a:off x="7892459" y="4403870"/>
            <a:ext cx="9334500" cy="3292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Analyzing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gain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performance,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attrition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trends,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overall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distribution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across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roles.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Evaluating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ratings,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experience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10">
                <a:solidFill>
                  <a:srgbClr val="3A362F"/>
                </a:solidFill>
                <a:latin typeface="Trebuchet MS"/>
                <a:cs typeface="Trebuchet MS"/>
              </a:rPr>
              <a:t>levels,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demographic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factors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identify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patterns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impacting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productivity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retention.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Identifying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key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reasons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departures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highlighting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or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roles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most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0">
                <a:solidFill>
                  <a:srgbClr val="3A362F"/>
                </a:solidFill>
                <a:latin typeface="Trebuchet MS"/>
                <a:cs typeface="Trebuchet MS"/>
              </a:rPr>
              <a:t>affected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by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support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data-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driven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decisions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planning.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4459" y="4800876"/>
            <a:ext cx="10203815" cy="692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350" spc="155">
                <a:solidFill>
                  <a:srgbClr val="37502E"/>
                </a:solidFill>
                <a:latin typeface="Cambria"/>
                <a:cs typeface="Cambria"/>
              </a:rPr>
              <a:t>Project</a:t>
            </a:r>
            <a:r>
              <a:rPr dirty="0" sz="4350" spc="21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dirty="0" sz="4350" spc="135">
                <a:solidFill>
                  <a:srgbClr val="37502E"/>
                </a:solidFill>
                <a:latin typeface="Cambria"/>
                <a:cs typeface="Cambria"/>
              </a:rPr>
              <a:t>Overview:</a:t>
            </a:r>
            <a:r>
              <a:rPr dirty="0" sz="4350" spc="204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dirty="0" sz="4350" spc="130">
                <a:solidFill>
                  <a:srgbClr val="37502E"/>
                </a:solidFill>
                <a:latin typeface="Cambria"/>
                <a:cs typeface="Cambria"/>
              </a:rPr>
              <a:t>Driving</a:t>
            </a:r>
            <a:r>
              <a:rPr dirty="0" sz="4350" spc="204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dirty="0" sz="4350" spc="220">
                <a:solidFill>
                  <a:srgbClr val="37502E"/>
                </a:solidFill>
                <a:latin typeface="Cambria"/>
                <a:cs typeface="Cambria"/>
              </a:rPr>
              <a:t>HR</a:t>
            </a:r>
            <a:r>
              <a:rPr dirty="0" sz="4350" spc="21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dirty="0" sz="4350" spc="180">
                <a:solidFill>
                  <a:srgbClr val="37502E"/>
                </a:solidFill>
                <a:latin typeface="Cambria"/>
                <a:cs typeface="Cambria"/>
              </a:rPr>
              <a:t>Decisions</a:t>
            </a:r>
            <a:endParaRPr sz="4350">
              <a:latin typeface="Cambria"/>
              <a:cs typeface="Cambr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09059" y="5966373"/>
            <a:ext cx="5255895" cy="3246755"/>
            <a:chOff x="1009059" y="5966373"/>
            <a:chExt cx="5255895" cy="3246755"/>
          </a:xfrm>
        </p:grpSpPr>
        <p:sp>
          <p:nvSpPr>
            <p:cNvPr id="4" name="object 4" descr=""/>
            <p:cNvSpPr/>
            <p:nvPr/>
          </p:nvSpPr>
          <p:spPr>
            <a:xfrm>
              <a:off x="1047159" y="5985423"/>
              <a:ext cx="5198745" cy="3209290"/>
            </a:xfrm>
            <a:custGeom>
              <a:avLst/>
              <a:gdLst/>
              <a:ahLst/>
              <a:cxnLst/>
              <a:rect l="l" t="t" r="r" b="b"/>
              <a:pathLst>
                <a:path w="5198745" h="3209290">
                  <a:moveTo>
                    <a:pt x="5014722" y="3209067"/>
                  </a:moveTo>
                  <a:lnTo>
                    <a:pt x="183737" y="3209067"/>
                  </a:lnTo>
                  <a:lnTo>
                    <a:pt x="134904" y="3202532"/>
                  </a:lnTo>
                  <a:lnTo>
                    <a:pt x="91016" y="3184090"/>
                  </a:lnTo>
                  <a:lnTo>
                    <a:pt x="53828" y="3155489"/>
                  </a:lnTo>
                  <a:lnTo>
                    <a:pt x="25093" y="3118473"/>
                  </a:lnTo>
                  <a:lnTo>
                    <a:pt x="6565" y="3074791"/>
                  </a:lnTo>
                  <a:lnTo>
                    <a:pt x="0" y="3026187"/>
                  </a:lnTo>
                  <a:lnTo>
                    <a:pt x="0" y="182880"/>
                  </a:lnTo>
                  <a:lnTo>
                    <a:pt x="6565" y="134276"/>
                  </a:lnTo>
                  <a:lnTo>
                    <a:pt x="25093" y="90593"/>
                  </a:lnTo>
                  <a:lnTo>
                    <a:pt x="53828" y="53578"/>
                  </a:lnTo>
                  <a:lnTo>
                    <a:pt x="91016" y="24976"/>
                  </a:lnTo>
                  <a:lnTo>
                    <a:pt x="134904" y="6535"/>
                  </a:lnTo>
                  <a:lnTo>
                    <a:pt x="183737" y="0"/>
                  </a:lnTo>
                  <a:lnTo>
                    <a:pt x="5014722" y="0"/>
                  </a:lnTo>
                  <a:lnTo>
                    <a:pt x="5063554" y="6535"/>
                  </a:lnTo>
                  <a:lnTo>
                    <a:pt x="5107442" y="24976"/>
                  </a:lnTo>
                  <a:lnTo>
                    <a:pt x="5144630" y="53578"/>
                  </a:lnTo>
                  <a:lnTo>
                    <a:pt x="5173365" y="90593"/>
                  </a:lnTo>
                  <a:lnTo>
                    <a:pt x="5191893" y="134276"/>
                  </a:lnTo>
                  <a:lnTo>
                    <a:pt x="5198458" y="182880"/>
                  </a:lnTo>
                  <a:lnTo>
                    <a:pt x="5198458" y="3026187"/>
                  </a:lnTo>
                  <a:lnTo>
                    <a:pt x="5191893" y="3074791"/>
                  </a:lnTo>
                  <a:lnTo>
                    <a:pt x="5173365" y="3118473"/>
                  </a:lnTo>
                  <a:lnTo>
                    <a:pt x="5144630" y="3155489"/>
                  </a:lnTo>
                  <a:lnTo>
                    <a:pt x="5107442" y="3184090"/>
                  </a:lnTo>
                  <a:lnTo>
                    <a:pt x="5063554" y="3202532"/>
                  </a:lnTo>
                  <a:lnTo>
                    <a:pt x="5014722" y="3209067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28109" y="5966373"/>
              <a:ext cx="5236845" cy="3246755"/>
            </a:xfrm>
            <a:custGeom>
              <a:avLst/>
              <a:gdLst/>
              <a:ahLst/>
              <a:cxnLst/>
              <a:rect l="l" t="t" r="r" b="b"/>
              <a:pathLst>
                <a:path w="5236845" h="3246754">
                  <a:moveTo>
                    <a:pt x="202787" y="3246642"/>
                  </a:moveTo>
                  <a:lnTo>
                    <a:pt x="198215" y="3246642"/>
                  </a:lnTo>
                  <a:lnTo>
                    <a:pt x="156357" y="3241840"/>
                  </a:lnTo>
                  <a:lnTo>
                    <a:pt x="113687" y="3226662"/>
                  </a:lnTo>
                  <a:lnTo>
                    <a:pt x="76034" y="3202840"/>
                  </a:lnTo>
                  <a:lnTo>
                    <a:pt x="44614" y="3171580"/>
                  </a:lnTo>
                  <a:lnTo>
                    <a:pt x="20651" y="3134089"/>
                  </a:lnTo>
                  <a:lnTo>
                    <a:pt x="5370" y="3091572"/>
                  </a:lnTo>
                  <a:lnTo>
                    <a:pt x="0" y="3045237"/>
                  </a:lnTo>
                  <a:lnTo>
                    <a:pt x="0" y="201930"/>
                  </a:lnTo>
                  <a:lnTo>
                    <a:pt x="5359" y="155594"/>
                  </a:lnTo>
                  <a:lnTo>
                    <a:pt x="20625" y="113078"/>
                  </a:lnTo>
                  <a:lnTo>
                    <a:pt x="44574" y="75586"/>
                  </a:lnTo>
                  <a:lnTo>
                    <a:pt x="75986" y="44327"/>
                  </a:lnTo>
                  <a:lnTo>
                    <a:pt x="113640" y="20505"/>
                  </a:lnTo>
                  <a:lnTo>
                    <a:pt x="156314" y="5327"/>
                  </a:lnTo>
                  <a:lnTo>
                    <a:pt x="202787" y="0"/>
                  </a:lnTo>
                  <a:lnTo>
                    <a:pt x="5033772" y="0"/>
                  </a:lnTo>
                  <a:lnTo>
                    <a:pt x="5033772" y="19050"/>
                  </a:lnTo>
                  <a:lnTo>
                    <a:pt x="202787" y="19050"/>
                  </a:lnTo>
                  <a:lnTo>
                    <a:pt x="202787" y="38100"/>
                  </a:lnTo>
                  <a:lnTo>
                    <a:pt x="158970" y="43958"/>
                  </a:lnTo>
                  <a:lnTo>
                    <a:pt x="119619" y="60487"/>
                  </a:lnTo>
                  <a:lnTo>
                    <a:pt x="86296" y="86118"/>
                  </a:lnTo>
                  <a:lnTo>
                    <a:pt x="60561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3045237"/>
                  </a:lnTo>
                  <a:lnTo>
                    <a:pt x="43975" y="3088759"/>
                  </a:lnTo>
                  <a:lnTo>
                    <a:pt x="60561" y="3127886"/>
                  </a:lnTo>
                  <a:lnTo>
                    <a:pt x="86296" y="3161049"/>
                  </a:lnTo>
                  <a:lnTo>
                    <a:pt x="119619" y="3186680"/>
                  </a:lnTo>
                  <a:lnTo>
                    <a:pt x="158970" y="3203209"/>
                  </a:lnTo>
                  <a:lnTo>
                    <a:pt x="202787" y="3209067"/>
                  </a:lnTo>
                  <a:lnTo>
                    <a:pt x="5150729" y="3209067"/>
                  </a:lnTo>
                  <a:lnTo>
                    <a:pt x="5122918" y="3226662"/>
                  </a:lnTo>
                  <a:lnTo>
                    <a:pt x="5118827" y="3228117"/>
                  </a:lnTo>
                  <a:lnTo>
                    <a:pt x="202787" y="3228117"/>
                  </a:lnTo>
                  <a:lnTo>
                    <a:pt x="202787" y="3246642"/>
                  </a:lnTo>
                  <a:close/>
                </a:path>
                <a:path w="5236845" h="3246754">
                  <a:moveTo>
                    <a:pt x="5150729" y="3209067"/>
                  </a:moveTo>
                  <a:lnTo>
                    <a:pt x="5033772" y="3209067"/>
                  </a:lnTo>
                  <a:lnTo>
                    <a:pt x="5077588" y="3203209"/>
                  </a:lnTo>
                  <a:lnTo>
                    <a:pt x="5116939" y="3186680"/>
                  </a:lnTo>
                  <a:lnTo>
                    <a:pt x="5150262" y="3161049"/>
                  </a:lnTo>
                  <a:lnTo>
                    <a:pt x="5175997" y="3127886"/>
                  </a:lnTo>
                  <a:lnTo>
                    <a:pt x="5192583" y="3088759"/>
                  </a:lnTo>
                  <a:lnTo>
                    <a:pt x="5198459" y="3045237"/>
                  </a:lnTo>
                  <a:lnTo>
                    <a:pt x="5198459" y="201930"/>
                  </a:lnTo>
                  <a:lnTo>
                    <a:pt x="5192583" y="158408"/>
                  </a:lnTo>
                  <a:lnTo>
                    <a:pt x="5175997" y="119281"/>
                  </a:lnTo>
                  <a:lnTo>
                    <a:pt x="5150262" y="86118"/>
                  </a:lnTo>
                  <a:lnTo>
                    <a:pt x="5116939" y="60487"/>
                  </a:lnTo>
                  <a:lnTo>
                    <a:pt x="5077588" y="43958"/>
                  </a:lnTo>
                  <a:lnTo>
                    <a:pt x="5033772" y="38100"/>
                  </a:lnTo>
                  <a:lnTo>
                    <a:pt x="202787" y="38100"/>
                  </a:lnTo>
                  <a:lnTo>
                    <a:pt x="202787" y="19050"/>
                  </a:lnTo>
                  <a:lnTo>
                    <a:pt x="5033772" y="19050"/>
                  </a:lnTo>
                  <a:lnTo>
                    <a:pt x="5033772" y="0"/>
                  </a:lnTo>
                  <a:lnTo>
                    <a:pt x="5080245" y="5327"/>
                  </a:lnTo>
                  <a:lnTo>
                    <a:pt x="5122918" y="20505"/>
                  </a:lnTo>
                  <a:lnTo>
                    <a:pt x="5160572" y="44327"/>
                  </a:lnTo>
                  <a:lnTo>
                    <a:pt x="5191984" y="75586"/>
                  </a:lnTo>
                  <a:lnTo>
                    <a:pt x="5215934" y="113078"/>
                  </a:lnTo>
                  <a:lnTo>
                    <a:pt x="5231199" y="155594"/>
                  </a:lnTo>
                  <a:lnTo>
                    <a:pt x="5236520" y="201930"/>
                  </a:lnTo>
                  <a:lnTo>
                    <a:pt x="5236520" y="3045237"/>
                  </a:lnTo>
                  <a:lnTo>
                    <a:pt x="5231199" y="3091572"/>
                  </a:lnTo>
                  <a:lnTo>
                    <a:pt x="5215934" y="3134089"/>
                  </a:lnTo>
                  <a:lnTo>
                    <a:pt x="5191984" y="3171580"/>
                  </a:lnTo>
                  <a:lnTo>
                    <a:pt x="5160572" y="3202840"/>
                  </a:lnTo>
                  <a:lnTo>
                    <a:pt x="5150729" y="3209067"/>
                  </a:lnTo>
                  <a:close/>
                </a:path>
                <a:path w="5236845" h="3246754">
                  <a:moveTo>
                    <a:pt x="5033772" y="3246642"/>
                  </a:moveTo>
                  <a:lnTo>
                    <a:pt x="202787" y="3246642"/>
                  </a:lnTo>
                  <a:lnTo>
                    <a:pt x="202787" y="3228117"/>
                  </a:lnTo>
                  <a:lnTo>
                    <a:pt x="5033772" y="3228117"/>
                  </a:lnTo>
                  <a:lnTo>
                    <a:pt x="5033772" y="3246642"/>
                  </a:lnTo>
                  <a:close/>
                </a:path>
                <a:path w="5236845" h="3246754">
                  <a:moveTo>
                    <a:pt x="5038348" y="3246642"/>
                  </a:moveTo>
                  <a:lnTo>
                    <a:pt x="5033772" y="3246642"/>
                  </a:lnTo>
                  <a:lnTo>
                    <a:pt x="5033772" y="3228117"/>
                  </a:lnTo>
                  <a:lnTo>
                    <a:pt x="5118827" y="3228117"/>
                  </a:lnTo>
                  <a:lnTo>
                    <a:pt x="5080245" y="3241840"/>
                  </a:lnTo>
                  <a:lnTo>
                    <a:pt x="5038348" y="3246642"/>
                  </a:lnTo>
                  <a:close/>
                </a:path>
              </a:pathLst>
            </a:custGeom>
            <a:solidFill>
              <a:srgbClr val="D9CC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09059" y="5985424"/>
              <a:ext cx="152400" cy="3209290"/>
            </a:xfrm>
            <a:custGeom>
              <a:avLst/>
              <a:gdLst/>
              <a:ahLst/>
              <a:cxnLst/>
              <a:rect l="l" t="t" r="r" b="b"/>
              <a:pathLst>
                <a:path w="152400" h="3209290">
                  <a:moveTo>
                    <a:pt x="108715" y="3208734"/>
                  </a:moveTo>
                  <a:lnTo>
                    <a:pt x="43684" y="3208734"/>
                  </a:lnTo>
                  <a:lnTo>
                    <a:pt x="27405" y="3205444"/>
                  </a:lnTo>
                  <a:lnTo>
                    <a:pt x="13144" y="3195827"/>
                  </a:lnTo>
                  <a:lnTo>
                    <a:pt x="3527" y="3181566"/>
                  </a:lnTo>
                  <a:lnTo>
                    <a:pt x="0" y="3164109"/>
                  </a:lnTo>
                  <a:lnTo>
                    <a:pt x="0" y="44863"/>
                  </a:lnTo>
                  <a:lnTo>
                    <a:pt x="27405" y="3527"/>
                  </a:lnTo>
                  <a:lnTo>
                    <a:pt x="107537" y="0"/>
                  </a:lnTo>
                  <a:lnTo>
                    <a:pt x="124994" y="3527"/>
                  </a:lnTo>
                  <a:lnTo>
                    <a:pt x="139255" y="13144"/>
                  </a:lnTo>
                  <a:lnTo>
                    <a:pt x="148872" y="27405"/>
                  </a:lnTo>
                  <a:lnTo>
                    <a:pt x="152399" y="44863"/>
                  </a:lnTo>
                  <a:lnTo>
                    <a:pt x="152399" y="3164109"/>
                  </a:lnTo>
                  <a:lnTo>
                    <a:pt x="148872" y="3181566"/>
                  </a:lnTo>
                  <a:lnTo>
                    <a:pt x="139255" y="3195827"/>
                  </a:lnTo>
                  <a:lnTo>
                    <a:pt x="124994" y="3205444"/>
                  </a:lnTo>
                  <a:lnTo>
                    <a:pt x="108715" y="320873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86001" y="6066990"/>
            <a:ext cx="4170045" cy="2132965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750" spc="150">
                <a:solidFill>
                  <a:srgbClr val="3A362F"/>
                </a:solidFill>
                <a:latin typeface="Cambria"/>
                <a:cs typeface="Cambria"/>
              </a:rPr>
              <a:t>Goal</a:t>
            </a:r>
            <a:r>
              <a:rPr dirty="0" sz="2750" spc="12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750" spc="80">
                <a:solidFill>
                  <a:srgbClr val="3A362F"/>
                </a:solidFill>
                <a:latin typeface="Cambria"/>
                <a:cs typeface="Cambria"/>
              </a:rPr>
              <a:t>Identification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Identify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why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leave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which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departments,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roles,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or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locations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are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most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affected.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506612" y="5966373"/>
            <a:ext cx="5255895" cy="3246755"/>
            <a:chOff x="6506612" y="5966373"/>
            <a:chExt cx="5255895" cy="3246755"/>
          </a:xfrm>
        </p:grpSpPr>
        <p:sp>
          <p:nvSpPr>
            <p:cNvPr id="9" name="object 9" descr=""/>
            <p:cNvSpPr/>
            <p:nvPr/>
          </p:nvSpPr>
          <p:spPr>
            <a:xfrm>
              <a:off x="6544713" y="5985423"/>
              <a:ext cx="5198745" cy="3209290"/>
            </a:xfrm>
            <a:custGeom>
              <a:avLst/>
              <a:gdLst/>
              <a:ahLst/>
              <a:cxnLst/>
              <a:rect l="l" t="t" r="r" b="b"/>
              <a:pathLst>
                <a:path w="5198745" h="3209290">
                  <a:moveTo>
                    <a:pt x="5014722" y="3209067"/>
                  </a:moveTo>
                  <a:lnTo>
                    <a:pt x="183737" y="3209067"/>
                  </a:lnTo>
                  <a:lnTo>
                    <a:pt x="134904" y="3202532"/>
                  </a:lnTo>
                  <a:lnTo>
                    <a:pt x="91016" y="3184090"/>
                  </a:lnTo>
                  <a:lnTo>
                    <a:pt x="53828" y="3155489"/>
                  </a:lnTo>
                  <a:lnTo>
                    <a:pt x="25093" y="3118473"/>
                  </a:lnTo>
                  <a:lnTo>
                    <a:pt x="6565" y="3074791"/>
                  </a:lnTo>
                  <a:lnTo>
                    <a:pt x="0" y="3026187"/>
                  </a:lnTo>
                  <a:lnTo>
                    <a:pt x="0" y="182880"/>
                  </a:lnTo>
                  <a:lnTo>
                    <a:pt x="6565" y="134276"/>
                  </a:lnTo>
                  <a:lnTo>
                    <a:pt x="25093" y="90593"/>
                  </a:lnTo>
                  <a:lnTo>
                    <a:pt x="53828" y="53578"/>
                  </a:lnTo>
                  <a:lnTo>
                    <a:pt x="91016" y="24976"/>
                  </a:lnTo>
                  <a:lnTo>
                    <a:pt x="134904" y="6535"/>
                  </a:lnTo>
                  <a:lnTo>
                    <a:pt x="183737" y="0"/>
                  </a:lnTo>
                  <a:lnTo>
                    <a:pt x="5014722" y="0"/>
                  </a:lnTo>
                  <a:lnTo>
                    <a:pt x="5063554" y="6535"/>
                  </a:lnTo>
                  <a:lnTo>
                    <a:pt x="5107442" y="24976"/>
                  </a:lnTo>
                  <a:lnTo>
                    <a:pt x="5144630" y="53578"/>
                  </a:lnTo>
                  <a:lnTo>
                    <a:pt x="5173366" y="90593"/>
                  </a:lnTo>
                  <a:lnTo>
                    <a:pt x="5191893" y="134276"/>
                  </a:lnTo>
                  <a:lnTo>
                    <a:pt x="5198459" y="182880"/>
                  </a:lnTo>
                  <a:lnTo>
                    <a:pt x="5198459" y="3026187"/>
                  </a:lnTo>
                  <a:lnTo>
                    <a:pt x="5191893" y="3074791"/>
                  </a:lnTo>
                  <a:lnTo>
                    <a:pt x="5173366" y="3118473"/>
                  </a:lnTo>
                  <a:lnTo>
                    <a:pt x="5144630" y="3155489"/>
                  </a:lnTo>
                  <a:lnTo>
                    <a:pt x="5107442" y="3184090"/>
                  </a:lnTo>
                  <a:lnTo>
                    <a:pt x="5063554" y="3202532"/>
                  </a:lnTo>
                  <a:lnTo>
                    <a:pt x="5014722" y="3209067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525662" y="5966373"/>
              <a:ext cx="5236845" cy="3246755"/>
            </a:xfrm>
            <a:custGeom>
              <a:avLst/>
              <a:gdLst/>
              <a:ahLst/>
              <a:cxnLst/>
              <a:rect l="l" t="t" r="r" b="b"/>
              <a:pathLst>
                <a:path w="5236845" h="3246754">
                  <a:moveTo>
                    <a:pt x="202787" y="3246642"/>
                  </a:moveTo>
                  <a:lnTo>
                    <a:pt x="198215" y="3246642"/>
                  </a:lnTo>
                  <a:lnTo>
                    <a:pt x="156358" y="3241840"/>
                  </a:lnTo>
                  <a:lnTo>
                    <a:pt x="113687" y="3226662"/>
                  </a:lnTo>
                  <a:lnTo>
                    <a:pt x="76034" y="3202840"/>
                  </a:lnTo>
                  <a:lnTo>
                    <a:pt x="44614" y="3171580"/>
                  </a:lnTo>
                  <a:lnTo>
                    <a:pt x="20651" y="3134089"/>
                  </a:lnTo>
                  <a:lnTo>
                    <a:pt x="5370" y="3091572"/>
                  </a:lnTo>
                  <a:lnTo>
                    <a:pt x="0" y="3045237"/>
                  </a:lnTo>
                  <a:lnTo>
                    <a:pt x="0" y="201930"/>
                  </a:lnTo>
                  <a:lnTo>
                    <a:pt x="5360" y="155594"/>
                  </a:lnTo>
                  <a:lnTo>
                    <a:pt x="20625" y="113078"/>
                  </a:lnTo>
                  <a:lnTo>
                    <a:pt x="44574" y="75586"/>
                  </a:lnTo>
                  <a:lnTo>
                    <a:pt x="75986" y="44327"/>
                  </a:lnTo>
                  <a:lnTo>
                    <a:pt x="113640" y="20505"/>
                  </a:lnTo>
                  <a:lnTo>
                    <a:pt x="156314" y="5327"/>
                  </a:lnTo>
                  <a:lnTo>
                    <a:pt x="202787" y="0"/>
                  </a:lnTo>
                  <a:lnTo>
                    <a:pt x="5033772" y="0"/>
                  </a:lnTo>
                  <a:lnTo>
                    <a:pt x="5033772" y="19050"/>
                  </a:lnTo>
                  <a:lnTo>
                    <a:pt x="202787" y="19050"/>
                  </a:lnTo>
                  <a:lnTo>
                    <a:pt x="202787" y="38100"/>
                  </a:lnTo>
                  <a:lnTo>
                    <a:pt x="158970" y="43958"/>
                  </a:lnTo>
                  <a:lnTo>
                    <a:pt x="119619" y="60487"/>
                  </a:lnTo>
                  <a:lnTo>
                    <a:pt x="86296" y="86118"/>
                  </a:lnTo>
                  <a:lnTo>
                    <a:pt x="60561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3045237"/>
                  </a:lnTo>
                  <a:lnTo>
                    <a:pt x="43975" y="3088759"/>
                  </a:lnTo>
                  <a:lnTo>
                    <a:pt x="60561" y="3127886"/>
                  </a:lnTo>
                  <a:lnTo>
                    <a:pt x="86296" y="3161049"/>
                  </a:lnTo>
                  <a:lnTo>
                    <a:pt x="119619" y="3186680"/>
                  </a:lnTo>
                  <a:lnTo>
                    <a:pt x="158970" y="3203209"/>
                  </a:lnTo>
                  <a:lnTo>
                    <a:pt x="202787" y="3209067"/>
                  </a:lnTo>
                  <a:lnTo>
                    <a:pt x="5150730" y="3209067"/>
                  </a:lnTo>
                  <a:lnTo>
                    <a:pt x="5122919" y="3226662"/>
                  </a:lnTo>
                  <a:lnTo>
                    <a:pt x="5118827" y="3228117"/>
                  </a:lnTo>
                  <a:lnTo>
                    <a:pt x="202787" y="3228117"/>
                  </a:lnTo>
                  <a:lnTo>
                    <a:pt x="202787" y="3246642"/>
                  </a:lnTo>
                  <a:close/>
                </a:path>
                <a:path w="5236845" h="3246754">
                  <a:moveTo>
                    <a:pt x="5150730" y="3209067"/>
                  </a:moveTo>
                  <a:lnTo>
                    <a:pt x="5033772" y="3209067"/>
                  </a:lnTo>
                  <a:lnTo>
                    <a:pt x="5077588" y="3203209"/>
                  </a:lnTo>
                  <a:lnTo>
                    <a:pt x="5116939" y="3186680"/>
                  </a:lnTo>
                  <a:lnTo>
                    <a:pt x="5150262" y="3161049"/>
                  </a:lnTo>
                  <a:lnTo>
                    <a:pt x="5175997" y="3127886"/>
                  </a:lnTo>
                  <a:lnTo>
                    <a:pt x="5192583" y="3088759"/>
                  </a:lnTo>
                  <a:lnTo>
                    <a:pt x="5198459" y="3045237"/>
                  </a:lnTo>
                  <a:lnTo>
                    <a:pt x="5198459" y="201930"/>
                  </a:lnTo>
                  <a:lnTo>
                    <a:pt x="5192583" y="158408"/>
                  </a:lnTo>
                  <a:lnTo>
                    <a:pt x="5175997" y="119281"/>
                  </a:lnTo>
                  <a:lnTo>
                    <a:pt x="5150262" y="86118"/>
                  </a:lnTo>
                  <a:lnTo>
                    <a:pt x="5116939" y="60487"/>
                  </a:lnTo>
                  <a:lnTo>
                    <a:pt x="5077588" y="43958"/>
                  </a:lnTo>
                  <a:lnTo>
                    <a:pt x="5033772" y="38100"/>
                  </a:lnTo>
                  <a:lnTo>
                    <a:pt x="202787" y="38100"/>
                  </a:lnTo>
                  <a:lnTo>
                    <a:pt x="202787" y="19050"/>
                  </a:lnTo>
                  <a:lnTo>
                    <a:pt x="5033772" y="19050"/>
                  </a:lnTo>
                  <a:lnTo>
                    <a:pt x="5033772" y="0"/>
                  </a:lnTo>
                  <a:lnTo>
                    <a:pt x="5080245" y="5327"/>
                  </a:lnTo>
                  <a:lnTo>
                    <a:pt x="5122919" y="20505"/>
                  </a:lnTo>
                  <a:lnTo>
                    <a:pt x="5160572" y="44327"/>
                  </a:lnTo>
                  <a:lnTo>
                    <a:pt x="5191984" y="75586"/>
                  </a:lnTo>
                  <a:lnTo>
                    <a:pt x="5215934" y="113078"/>
                  </a:lnTo>
                  <a:lnTo>
                    <a:pt x="5231199" y="155594"/>
                  </a:lnTo>
                  <a:lnTo>
                    <a:pt x="5236520" y="201930"/>
                  </a:lnTo>
                  <a:lnTo>
                    <a:pt x="5236520" y="3045237"/>
                  </a:lnTo>
                  <a:lnTo>
                    <a:pt x="5231199" y="3091572"/>
                  </a:lnTo>
                  <a:lnTo>
                    <a:pt x="5215934" y="3134089"/>
                  </a:lnTo>
                  <a:lnTo>
                    <a:pt x="5191984" y="3171580"/>
                  </a:lnTo>
                  <a:lnTo>
                    <a:pt x="5160572" y="3202840"/>
                  </a:lnTo>
                  <a:lnTo>
                    <a:pt x="5150730" y="3209067"/>
                  </a:lnTo>
                  <a:close/>
                </a:path>
                <a:path w="5236845" h="3246754">
                  <a:moveTo>
                    <a:pt x="5033772" y="3246642"/>
                  </a:moveTo>
                  <a:lnTo>
                    <a:pt x="202787" y="3246642"/>
                  </a:lnTo>
                  <a:lnTo>
                    <a:pt x="202787" y="3228117"/>
                  </a:lnTo>
                  <a:lnTo>
                    <a:pt x="5033772" y="3228117"/>
                  </a:lnTo>
                  <a:lnTo>
                    <a:pt x="5033772" y="3246642"/>
                  </a:lnTo>
                  <a:close/>
                </a:path>
                <a:path w="5236845" h="3246754">
                  <a:moveTo>
                    <a:pt x="5038348" y="3246642"/>
                  </a:moveTo>
                  <a:lnTo>
                    <a:pt x="5033772" y="3246642"/>
                  </a:lnTo>
                  <a:lnTo>
                    <a:pt x="5033772" y="3228117"/>
                  </a:lnTo>
                  <a:lnTo>
                    <a:pt x="5118827" y="3228117"/>
                  </a:lnTo>
                  <a:lnTo>
                    <a:pt x="5080245" y="3241840"/>
                  </a:lnTo>
                  <a:lnTo>
                    <a:pt x="5038348" y="3246642"/>
                  </a:lnTo>
                  <a:close/>
                </a:path>
              </a:pathLst>
            </a:custGeom>
            <a:solidFill>
              <a:srgbClr val="D9CC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06612" y="5985424"/>
              <a:ext cx="152400" cy="3209290"/>
            </a:xfrm>
            <a:custGeom>
              <a:avLst/>
              <a:gdLst/>
              <a:ahLst/>
              <a:cxnLst/>
              <a:rect l="l" t="t" r="r" b="b"/>
              <a:pathLst>
                <a:path w="152400" h="3209290">
                  <a:moveTo>
                    <a:pt x="108715" y="3208734"/>
                  </a:moveTo>
                  <a:lnTo>
                    <a:pt x="43684" y="3208734"/>
                  </a:lnTo>
                  <a:lnTo>
                    <a:pt x="27405" y="3205444"/>
                  </a:lnTo>
                  <a:lnTo>
                    <a:pt x="13144" y="3195827"/>
                  </a:lnTo>
                  <a:lnTo>
                    <a:pt x="3527" y="3181566"/>
                  </a:lnTo>
                  <a:lnTo>
                    <a:pt x="0" y="3164109"/>
                  </a:lnTo>
                  <a:lnTo>
                    <a:pt x="0" y="44863"/>
                  </a:lnTo>
                  <a:lnTo>
                    <a:pt x="27405" y="3527"/>
                  </a:lnTo>
                  <a:lnTo>
                    <a:pt x="107537" y="0"/>
                  </a:lnTo>
                  <a:lnTo>
                    <a:pt x="124994" y="3527"/>
                  </a:lnTo>
                  <a:lnTo>
                    <a:pt x="139255" y="13144"/>
                  </a:lnTo>
                  <a:lnTo>
                    <a:pt x="148872" y="27405"/>
                  </a:lnTo>
                  <a:lnTo>
                    <a:pt x="152399" y="44863"/>
                  </a:lnTo>
                  <a:lnTo>
                    <a:pt x="152399" y="3164109"/>
                  </a:lnTo>
                  <a:lnTo>
                    <a:pt x="148872" y="3181566"/>
                  </a:lnTo>
                  <a:lnTo>
                    <a:pt x="139255" y="3195827"/>
                  </a:lnTo>
                  <a:lnTo>
                    <a:pt x="124994" y="3205444"/>
                  </a:lnTo>
                  <a:lnTo>
                    <a:pt x="108715" y="320873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983564" y="6066990"/>
            <a:ext cx="4253865" cy="2599690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750" spc="100">
                <a:solidFill>
                  <a:srgbClr val="3A362F"/>
                </a:solidFill>
                <a:latin typeface="Cambria"/>
                <a:cs typeface="Cambria"/>
              </a:rPr>
              <a:t>Dashboard</a:t>
            </a:r>
            <a:r>
              <a:rPr dirty="0" sz="2750" spc="14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750" spc="114">
                <a:solidFill>
                  <a:srgbClr val="3A362F"/>
                </a:solidFill>
                <a:latin typeface="Cambria"/>
                <a:cs typeface="Cambria"/>
              </a:rPr>
              <a:t>Creation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dirty="0" sz="2300" spc="-114">
                <a:solidFill>
                  <a:srgbClr val="3A362F"/>
                </a:solidFill>
                <a:latin typeface="Trebuchet MS"/>
                <a:cs typeface="Trebuchet MS"/>
              </a:rPr>
              <a:t>A</a:t>
            </a:r>
            <a:r>
              <a:rPr dirty="0" sz="2300" spc="-21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Power</a:t>
            </a:r>
            <a:r>
              <a:rPr dirty="0" sz="2300" spc="-20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A362F"/>
                </a:solidFill>
                <a:latin typeface="Trebuchet MS"/>
                <a:cs typeface="Trebuchet MS"/>
              </a:rPr>
              <a:t>BI</a:t>
            </a:r>
            <a:r>
              <a:rPr dirty="0" sz="2300" spc="-20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dashboard</a:t>
            </a:r>
            <a:r>
              <a:rPr dirty="0" sz="2300" spc="-20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A362F"/>
                </a:solidFill>
                <a:latin typeface="Trebuchet MS"/>
                <a:cs typeface="Trebuchet MS"/>
              </a:rPr>
              <a:t>shows</a:t>
            </a:r>
            <a:r>
              <a:rPr dirty="0" sz="2300" spc="-20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key HR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metrics: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employees,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45">
                <a:solidFill>
                  <a:srgbClr val="3A362F"/>
                </a:solidFill>
                <a:latin typeface="Trebuchet MS"/>
                <a:cs typeface="Trebuchet MS"/>
              </a:rPr>
              <a:t>rate,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exits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by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department,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performance,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role.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004176" y="5966373"/>
            <a:ext cx="5255895" cy="3246755"/>
            <a:chOff x="12004176" y="5966373"/>
            <a:chExt cx="5255895" cy="3246755"/>
          </a:xfrm>
        </p:grpSpPr>
        <p:sp>
          <p:nvSpPr>
            <p:cNvPr id="14" name="object 14" descr=""/>
            <p:cNvSpPr/>
            <p:nvPr/>
          </p:nvSpPr>
          <p:spPr>
            <a:xfrm>
              <a:off x="12042277" y="5985423"/>
              <a:ext cx="5198745" cy="3209290"/>
            </a:xfrm>
            <a:custGeom>
              <a:avLst/>
              <a:gdLst/>
              <a:ahLst/>
              <a:cxnLst/>
              <a:rect l="l" t="t" r="r" b="b"/>
              <a:pathLst>
                <a:path w="5198744" h="3209290">
                  <a:moveTo>
                    <a:pt x="5014816" y="3209067"/>
                  </a:moveTo>
                  <a:lnTo>
                    <a:pt x="183737" y="3209067"/>
                  </a:lnTo>
                  <a:lnTo>
                    <a:pt x="134904" y="3202532"/>
                  </a:lnTo>
                  <a:lnTo>
                    <a:pt x="91016" y="3184090"/>
                  </a:lnTo>
                  <a:lnTo>
                    <a:pt x="53828" y="3155489"/>
                  </a:lnTo>
                  <a:lnTo>
                    <a:pt x="25093" y="3118473"/>
                  </a:lnTo>
                  <a:lnTo>
                    <a:pt x="6565" y="3074791"/>
                  </a:lnTo>
                  <a:lnTo>
                    <a:pt x="0" y="3026187"/>
                  </a:lnTo>
                  <a:lnTo>
                    <a:pt x="0" y="182880"/>
                  </a:lnTo>
                  <a:lnTo>
                    <a:pt x="6565" y="134276"/>
                  </a:lnTo>
                  <a:lnTo>
                    <a:pt x="25093" y="90593"/>
                  </a:lnTo>
                  <a:lnTo>
                    <a:pt x="53828" y="53578"/>
                  </a:lnTo>
                  <a:lnTo>
                    <a:pt x="91016" y="24976"/>
                  </a:lnTo>
                  <a:lnTo>
                    <a:pt x="134904" y="6535"/>
                  </a:lnTo>
                  <a:lnTo>
                    <a:pt x="183737" y="0"/>
                  </a:lnTo>
                  <a:lnTo>
                    <a:pt x="5014816" y="0"/>
                  </a:lnTo>
                  <a:lnTo>
                    <a:pt x="5063649" y="6535"/>
                  </a:lnTo>
                  <a:lnTo>
                    <a:pt x="5107537" y="24976"/>
                  </a:lnTo>
                  <a:lnTo>
                    <a:pt x="5144726" y="53578"/>
                  </a:lnTo>
                  <a:lnTo>
                    <a:pt x="5173461" y="90593"/>
                  </a:lnTo>
                  <a:lnTo>
                    <a:pt x="5191989" y="134276"/>
                  </a:lnTo>
                  <a:lnTo>
                    <a:pt x="5198555" y="182880"/>
                  </a:lnTo>
                  <a:lnTo>
                    <a:pt x="5198555" y="3026187"/>
                  </a:lnTo>
                  <a:lnTo>
                    <a:pt x="5191989" y="3074791"/>
                  </a:lnTo>
                  <a:lnTo>
                    <a:pt x="5173461" y="3118473"/>
                  </a:lnTo>
                  <a:lnTo>
                    <a:pt x="5144726" y="3155489"/>
                  </a:lnTo>
                  <a:lnTo>
                    <a:pt x="5107537" y="3184090"/>
                  </a:lnTo>
                  <a:lnTo>
                    <a:pt x="5063649" y="3202532"/>
                  </a:lnTo>
                  <a:lnTo>
                    <a:pt x="5014816" y="3209067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023227" y="5966373"/>
              <a:ext cx="5236845" cy="3246755"/>
            </a:xfrm>
            <a:custGeom>
              <a:avLst/>
              <a:gdLst/>
              <a:ahLst/>
              <a:cxnLst/>
              <a:rect l="l" t="t" r="r" b="b"/>
              <a:pathLst>
                <a:path w="5236844" h="3246754">
                  <a:moveTo>
                    <a:pt x="202787" y="3246731"/>
                  </a:moveTo>
                  <a:lnTo>
                    <a:pt x="198989" y="3246731"/>
                  </a:lnTo>
                  <a:lnTo>
                    <a:pt x="156358" y="3241840"/>
                  </a:lnTo>
                  <a:lnTo>
                    <a:pt x="113687" y="3226662"/>
                  </a:lnTo>
                  <a:lnTo>
                    <a:pt x="76034" y="3202840"/>
                  </a:lnTo>
                  <a:lnTo>
                    <a:pt x="44614" y="3171580"/>
                  </a:lnTo>
                  <a:lnTo>
                    <a:pt x="20651" y="3134089"/>
                  </a:lnTo>
                  <a:lnTo>
                    <a:pt x="5370" y="3091572"/>
                  </a:lnTo>
                  <a:lnTo>
                    <a:pt x="0" y="3045237"/>
                  </a:lnTo>
                  <a:lnTo>
                    <a:pt x="0" y="201930"/>
                  </a:lnTo>
                  <a:lnTo>
                    <a:pt x="5360" y="155594"/>
                  </a:lnTo>
                  <a:lnTo>
                    <a:pt x="20625" y="113078"/>
                  </a:lnTo>
                  <a:lnTo>
                    <a:pt x="44574" y="75586"/>
                  </a:lnTo>
                  <a:lnTo>
                    <a:pt x="75987" y="44327"/>
                  </a:lnTo>
                  <a:lnTo>
                    <a:pt x="113640" y="20505"/>
                  </a:lnTo>
                  <a:lnTo>
                    <a:pt x="156314" y="5327"/>
                  </a:lnTo>
                  <a:lnTo>
                    <a:pt x="202787" y="0"/>
                  </a:lnTo>
                  <a:lnTo>
                    <a:pt x="5033866" y="0"/>
                  </a:lnTo>
                  <a:lnTo>
                    <a:pt x="5033866" y="19050"/>
                  </a:lnTo>
                  <a:lnTo>
                    <a:pt x="202787" y="19050"/>
                  </a:lnTo>
                  <a:lnTo>
                    <a:pt x="202787" y="38100"/>
                  </a:lnTo>
                  <a:lnTo>
                    <a:pt x="158970" y="43958"/>
                  </a:lnTo>
                  <a:lnTo>
                    <a:pt x="119620" y="60487"/>
                  </a:lnTo>
                  <a:lnTo>
                    <a:pt x="86296" y="86118"/>
                  </a:lnTo>
                  <a:lnTo>
                    <a:pt x="60561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3045237"/>
                  </a:lnTo>
                  <a:lnTo>
                    <a:pt x="43975" y="3088759"/>
                  </a:lnTo>
                  <a:lnTo>
                    <a:pt x="60561" y="3127886"/>
                  </a:lnTo>
                  <a:lnTo>
                    <a:pt x="86296" y="3161049"/>
                  </a:lnTo>
                  <a:lnTo>
                    <a:pt x="119620" y="3186680"/>
                  </a:lnTo>
                  <a:lnTo>
                    <a:pt x="158970" y="3203209"/>
                  </a:lnTo>
                  <a:lnTo>
                    <a:pt x="202787" y="3209067"/>
                  </a:lnTo>
                  <a:lnTo>
                    <a:pt x="5150825" y="3209067"/>
                  </a:lnTo>
                  <a:lnTo>
                    <a:pt x="5123013" y="3226662"/>
                  </a:lnTo>
                  <a:lnTo>
                    <a:pt x="5118922" y="3228117"/>
                  </a:lnTo>
                  <a:lnTo>
                    <a:pt x="202787" y="3228117"/>
                  </a:lnTo>
                  <a:lnTo>
                    <a:pt x="202787" y="3246731"/>
                  </a:lnTo>
                  <a:close/>
                </a:path>
                <a:path w="5236844" h="3246754">
                  <a:moveTo>
                    <a:pt x="5150825" y="3209067"/>
                  </a:moveTo>
                  <a:lnTo>
                    <a:pt x="5033866" y="3209067"/>
                  </a:lnTo>
                  <a:lnTo>
                    <a:pt x="5077683" y="3203209"/>
                  </a:lnTo>
                  <a:lnTo>
                    <a:pt x="5117034" y="3186680"/>
                  </a:lnTo>
                  <a:lnTo>
                    <a:pt x="5150358" y="3161049"/>
                  </a:lnTo>
                  <a:lnTo>
                    <a:pt x="5176093" y="3127886"/>
                  </a:lnTo>
                  <a:lnTo>
                    <a:pt x="5192680" y="3088759"/>
                  </a:lnTo>
                  <a:lnTo>
                    <a:pt x="5198555" y="3045237"/>
                  </a:lnTo>
                  <a:lnTo>
                    <a:pt x="5198555" y="201930"/>
                  </a:lnTo>
                  <a:lnTo>
                    <a:pt x="5192680" y="158408"/>
                  </a:lnTo>
                  <a:lnTo>
                    <a:pt x="5176093" y="119281"/>
                  </a:lnTo>
                  <a:lnTo>
                    <a:pt x="5150358" y="86118"/>
                  </a:lnTo>
                  <a:lnTo>
                    <a:pt x="5117034" y="60487"/>
                  </a:lnTo>
                  <a:lnTo>
                    <a:pt x="5077683" y="43958"/>
                  </a:lnTo>
                  <a:lnTo>
                    <a:pt x="5033866" y="38100"/>
                  </a:lnTo>
                  <a:lnTo>
                    <a:pt x="202787" y="38100"/>
                  </a:lnTo>
                  <a:lnTo>
                    <a:pt x="202787" y="19050"/>
                  </a:lnTo>
                  <a:lnTo>
                    <a:pt x="5033866" y="19050"/>
                  </a:lnTo>
                  <a:lnTo>
                    <a:pt x="5033866" y="0"/>
                  </a:lnTo>
                  <a:lnTo>
                    <a:pt x="5080339" y="5327"/>
                  </a:lnTo>
                  <a:lnTo>
                    <a:pt x="5123013" y="20505"/>
                  </a:lnTo>
                  <a:lnTo>
                    <a:pt x="5160667" y="44327"/>
                  </a:lnTo>
                  <a:lnTo>
                    <a:pt x="5192080" y="75586"/>
                  </a:lnTo>
                  <a:lnTo>
                    <a:pt x="5216030" y="113078"/>
                  </a:lnTo>
                  <a:lnTo>
                    <a:pt x="5231295" y="155594"/>
                  </a:lnTo>
                  <a:lnTo>
                    <a:pt x="5236664" y="201930"/>
                  </a:lnTo>
                  <a:lnTo>
                    <a:pt x="5236664" y="3045237"/>
                  </a:lnTo>
                  <a:lnTo>
                    <a:pt x="5231295" y="3091572"/>
                  </a:lnTo>
                  <a:lnTo>
                    <a:pt x="5216030" y="3134089"/>
                  </a:lnTo>
                  <a:lnTo>
                    <a:pt x="5192080" y="3171580"/>
                  </a:lnTo>
                  <a:lnTo>
                    <a:pt x="5160667" y="3202840"/>
                  </a:lnTo>
                  <a:lnTo>
                    <a:pt x="5150825" y="3209067"/>
                  </a:lnTo>
                  <a:close/>
                </a:path>
                <a:path w="5236844" h="3246754">
                  <a:moveTo>
                    <a:pt x="5033866" y="3246731"/>
                  </a:moveTo>
                  <a:lnTo>
                    <a:pt x="202787" y="3246731"/>
                  </a:lnTo>
                  <a:lnTo>
                    <a:pt x="202787" y="3228117"/>
                  </a:lnTo>
                  <a:lnTo>
                    <a:pt x="5033866" y="3228117"/>
                  </a:lnTo>
                  <a:lnTo>
                    <a:pt x="5033866" y="3246731"/>
                  </a:lnTo>
                  <a:close/>
                </a:path>
                <a:path w="5236844" h="3246754">
                  <a:moveTo>
                    <a:pt x="5037668" y="3246731"/>
                  </a:moveTo>
                  <a:lnTo>
                    <a:pt x="5033866" y="3246731"/>
                  </a:lnTo>
                  <a:lnTo>
                    <a:pt x="5033866" y="3228117"/>
                  </a:lnTo>
                  <a:lnTo>
                    <a:pt x="5118922" y="3228117"/>
                  </a:lnTo>
                  <a:lnTo>
                    <a:pt x="5080339" y="3241840"/>
                  </a:lnTo>
                  <a:lnTo>
                    <a:pt x="5037668" y="3246731"/>
                  </a:lnTo>
                  <a:close/>
                </a:path>
              </a:pathLst>
            </a:custGeom>
            <a:solidFill>
              <a:srgbClr val="D9CC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004176" y="5985423"/>
              <a:ext cx="152400" cy="3209290"/>
            </a:xfrm>
            <a:custGeom>
              <a:avLst/>
              <a:gdLst/>
              <a:ahLst/>
              <a:cxnLst/>
              <a:rect l="l" t="t" r="r" b="b"/>
              <a:pathLst>
                <a:path w="152400" h="3209290">
                  <a:moveTo>
                    <a:pt x="108715" y="3208734"/>
                  </a:moveTo>
                  <a:lnTo>
                    <a:pt x="43684" y="3208734"/>
                  </a:lnTo>
                  <a:lnTo>
                    <a:pt x="27405" y="3205444"/>
                  </a:lnTo>
                  <a:lnTo>
                    <a:pt x="13144" y="3195827"/>
                  </a:lnTo>
                  <a:lnTo>
                    <a:pt x="3527" y="3181566"/>
                  </a:lnTo>
                  <a:lnTo>
                    <a:pt x="0" y="3164109"/>
                  </a:lnTo>
                  <a:lnTo>
                    <a:pt x="0" y="44863"/>
                  </a:lnTo>
                  <a:lnTo>
                    <a:pt x="27405" y="3527"/>
                  </a:lnTo>
                  <a:lnTo>
                    <a:pt x="107537" y="0"/>
                  </a:lnTo>
                  <a:lnTo>
                    <a:pt x="124994" y="3527"/>
                  </a:lnTo>
                  <a:lnTo>
                    <a:pt x="139255" y="13144"/>
                  </a:lnTo>
                  <a:lnTo>
                    <a:pt x="148873" y="27405"/>
                  </a:lnTo>
                  <a:lnTo>
                    <a:pt x="152399" y="44863"/>
                  </a:lnTo>
                  <a:lnTo>
                    <a:pt x="152399" y="3164109"/>
                  </a:lnTo>
                  <a:lnTo>
                    <a:pt x="148873" y="3181566"/>
                  </a:lnTo>
                  <a:lnTo>
                    <a:pt x="139255" y="3195827"/>
                  </a:lnTo>
                  <a:lnTo>
                    <a:pt x="124994" y="3205444"/>
                  </a:lnTo>
                  <a:lnTo>
                    <a:pt x="108715" y="320873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481127" y="6066990"/>
            <a:ext cx="4294505" cy="2132965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750" spc="120">
                <a:solidFill>
                  <a:srgbClr val="3A362F"/>
                </a:solidFill>
                <a:latin typeface="Cambria"/>
                <a:cs typeface="Cambria"/>
              </a:rPr>
              <a:t>Impact </a:t>
            </a:r>
            <a:r>
              <a:rPr dirty="0" sz="275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2750" spc="13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750" spc="100">
                <a:solidFill>
                  <a:srgbClr val="3A362F"/>
                </a:solidFill>
                <a:latin typeface="Cambria"/>
                <a:cs typeface="Cambria"/>
              </a:rPr>
              <a:t>Decisions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Helps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teams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understand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trends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make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10">
                <a:solidFill>
                  <a:srgbClr val="3A362F"/>
                </a:solidFill>
                <a:latin typeface="Trebuchet MS"/>
                <a:cs typeface="Trebuchet MS"/>
              </a:rPr>
              <a:t>better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decisions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for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retention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performance.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2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95"/>
              <a:t>Dataset</a:t>
            </a:r>
            <a:r>
              <a:rPr dirty="0" spc="204"/>
              <a:t> </a:t>
            </a:r>
            <a:r>
              <a:rPr dirty="0" spc="165"/>
              <a:t>Description:</a:t>
            </a:r>
            <a:r>
              <a:rPr dirty="0" spc="204"/>
              <a:t> </a:t>
            </a:r>
            <a:r>
              <a:rPr dirty="0" spc="215"/>
              <a:t>The</a:t>
            </a:r>
            <a:r>
              <a:rPr dirty="0" spc="204"/>
              <a:t> </a:t>
            </a:r>
            <a:r>
              <a:rPr dirty="0" spc="160"/>
              <a:t>Foundation</a:t>
            </a:r>
            <a:r>
              <a:rPr dirty="0" spc="210"/>
              <a:t> </a:t>
            </a:r>
            <a:r>
              <a:rPr dirty="0" spc="190"/>
              <a:t>of</a:t>
            </a:r>
            <a:r>
              <a:rPr dirty="0" spc="204"/>
              <a:t> </a:t>
            </a:r>
            <a:r>
              <a:rPr dirty="0" spc="295"/>
              <a:t>Our</a:t>
            </a:r>
            <a:r>
              <a:rPr dirty="0" spc="204"/>
              <a:t> </a:t>
            </a:r>
            <a:r>
              <a:rPr dirty="0" spc="8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4459" y="2464637"/>
            <a:ext cx="9425940" cy="3292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This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dataset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contains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comprehensive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information,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including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department,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5">
                <a:solidFill>
                  <a:srgbClr val="3A362F"/>
                </a:solidFill>
                <a:latin typeface="Trebuchet MS"/>
                <a:cs typeface="Trebuchet MS"/>
              </a:rPr>
              <a:t>role,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gender,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score,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score,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start </a:t>
            </a:r>
            <a:r>
              <a:rPr dirty="0" sz="2300" spc="-130">
                <a:solidFill>
                  <a:srgbClr val="3A362F"/>
                </a:solidFill>
                <a:latin typeface="Trebuchet MS"/>
                <a:cs typeface="Trebuchet MS"/>
              </a:rPr>
              <a:t>date,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5">
                <a:solidFill>
                  <a:srgbClr val="3A362F"/>
                </a:solidFill>
                <a:latin typeface="Trebuchet MS"/>
                <a:cs typeface="Trebuchet MS"/>
              </a:rPr>
              <a:t>exit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30">
                <a:solidFill>
                  <a:srgbClr val="3A362F"/>
                </a:solidFill>
                <a:latin typeface="Trebuchet MS"/>
                <a:cs typeface="Trebuchet MS"/>
              </a:rPr>
              <a:t>date,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status.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was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carefully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cleaned,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transformed,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analyzed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Python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A362F"/>
                </a:solidFill>
                <a:latin typeface="Trebuchet MS"/>
                <a:cs typeface="Trebuchet MS"/>
              </a:rPr>
              <a:t>SQL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ensure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accuracy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consistency.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An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interactive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analytics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report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was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then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developed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in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Power </a:t>
            </a:r>
            <a:r>
              <a:rPr dirty="0" sz="2300">
                <a:solidFill>
                  <a:srgbClr val="3A362F"/>
                </a:solidFill>
                <a:latin typeface="Trebuchet MS"/>
                <a:cs typeface="Trebuchet MS"/>
              </a:rPr>
              <a:t>BI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visualize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key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metrics,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uncover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trends,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provide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actionable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performance,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engagement,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patterns.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0772" y="2700185"/>
            <a:ext cx="6038849" cy="6038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2649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755" y="1482096"/>
            <a:ext cx="7104380" cy="5016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105"/>
              <a:t>Exploratory</a:t>
            </a:r>
            <a:r>
              <a:rPr dirty="0" sz="3100" spc="140"/>
              <a:t> </a:t>
            </a:r>
            <a:r>
              <a:rPr dirty="0" sz="3100" spc="145"/>
              <a:t>Data </a:t>
            </a:r>
            <a:r>
              <a:rPr dirty="0" sz="3100" spc="65"/>
              <a:t>Analysis</a:t>
            </a:r>
            <a:r>
              <a:rPr dirty="0" sz="3100" spc="140"/>
              <a:t> </a:t>
            </a:r>
            <a:r>
              <a:rPr dirty="0" sz="3100" spc="100"/>
              <a:t>with</a:t>
            </a:r>
            <a:r>
              <a:rPr dirty="0" sz="3100" spc="145"/>
              <a:t> </a:t>
            </a:r>
            <a:r>
              <a:rPr dirty="0" sz="3100" spc="120"/>
              <a:t>Python</a:t>
            </a:r>
            <a:endParaRPr sz="3100"/>
          </a:p>
        </p:txBody>
      </p:sp>
      <p:sp>
        <p:nvSpPr>
          <p:cNvPr id="6" name="object 6" descr=""/>
          <p:cNvSpPr/>
          <p:nvPr/>
        </p:nvSpPr>
        <p:spPr>
          <a:xfrm>
            <a:off x="748455" y="2681287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48455" y="4339228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48455" y="5997177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48455" y="7655127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35755" y="2318708"/>
            <a:ext cx="9319260" cy="61791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-25">
                <a:solidFill>
                  <a:srgbClr val="3A362F"/>
                </a:solidFill>
                <a:latin typeface="Cambria"/>
                <a:cs typeface="Cambria"/>
              </a:rPr>
              <a:t>01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spc="100">
                <a:solidFill>
                  <a:srgbClr val="3A362F"/>
                </a:solidFill>
                <a:latin typeface="Cambria"/>
                <a:cs typeface="Cambria"/>
              </a:rPr>
              <a:t>Data</a:t>
            </a:r>
            <a:r>
              <a:rPr dirty="0" sz="1900" spc="11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85">
                <a:solidFill>
                  <a:srgbClr val="3A362F"/>
                </a:solidFill>
                <a:latin typeface="Cambria"/>
                <a:cs typeface="Cambria"/>
              </a:rPr>
              <a:t>Loading</a:t>
            </a:r>
            <a:r>
              <a:rPr dirty="0" sz="1900" spc="11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1900" spc="11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85">
                <a:solidFill>
                  <a:srgbClr val="3A362F"/>
                </a:solidFill>
                <a:latin typeface="Cambria"/>
                <a:cs typeface="Cambria"/>
              </a:rPr>
              <a:t>Understanding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2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3A362F"/>
                </a:solidFill>
                <a:latin typeface="Trebuchet MS"/>
                <a:cs typeface="Trebuchet MS"/>
              </a:rPr>
              <a:t>dataset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3A362F"/>
                </a:solidFill>
                <a:latin typeface="Trebuchet MS"/>
                <a:cs typeface="Trebuchet MS"/>
              </a:rPr>
              <a:t>loaded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3A362F"/>
                </a:solidFill>
                <a:latin typeface="Trebuchet MS"/>
                <a:cs typeface="Trebuchet MS"/>
              </a:rPr>
              <a:t>Python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A362F"/>
                </a:solidFill>
                <a:latin typeface="Trebuchet MS"/>
                <a:cs typeface="Trebuchet MS"/>
              </a:rPr>
              <a:t>pandas;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checked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3A362F"/>
                </a:solidFill>
                <a:latin typeface="Trebuchet MS"/>
                <a:cs typeface="Trebuchet MS"/>
              </a:rPr>
              <a:t>structure,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3A362F"/>
                </a:solidFill>
                <a:latin typeface="Trebuchet MS"/>
                <a:cs typeface="Trebuchet MS"/>
              </a:rPr>
              <a:t>column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3A362F"/>
                </a:solidFill>
                <a:latin typeface="Trebuchet MS"/>
                <a:cs typeface="Trebuchet MS"/>
              </a:rPr>
              <a:t>names,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types.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solidFill>
                  <a:srgbClr val="3A362F"/>
                </a:solidFill>
                <a:latin typeface="Cambria"/>
                <a:cs typeface="Cambria"/>
              </a:rPr>
              <a:t>02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900" spc="95">
                <a:solidFill>
                  <a:srgbClr val="3A362F"/>
                </a:solidFill>
                <a:latin typeface="Cambria"/>
                <a:cs typeface="Cambria"/>
              </a:rPr>
              <a:t>Summary</a:t>
            </a:r>
            <a:r>
              <a:rPr dirty="0" sz="1900" spc="114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90">
                <a:solidFill>
                  <a:srgbClr val="3A362F"/>
                </a:solidFill>
                <a:latin typeface="Cambria"/>
                <a:cs typeface="Cambria"/>
              </a:rPr>
              <a:t>Statistics</a:t>
            </a:r>
            <a:r>
              <a:rPr dirty="0" sz="1900" spc="114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1900" spc="114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85">
                <a:solidFill>
                  <a:srgbClr val="3A362F"/>
                </a:solidFill>
                <a:latin typeface="Cambria"/>
                <a:cs typeface="Cambria"/>
              </a:rPr>
              <a:t>Missing</a:t>
            </a:r>
            <a:r>
              <a:rPr dirty="0" sz="1900" spc="114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70">
                <a:solidFill>
                  <a:srgbClr val="3A362F"/>
                </a:solidFill>
                <a:latin typeface="Cambria"/>
                <a:cs typeface="Cambria"/>
              </a:rPr>
              <a:t>Values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600" spc="-50">
                <a:solidFill>
                  <a:srgbClr val="3A362F"/>
                </a:solidFill>
                <a:latin typeface="Trebuchet MS"/>
                <a:cs typeface="Trebuchet MS"/>
              </a:rPr>
              <a:t>Analyzed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numerical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3A362F"/>
                </a:solidFill>
                <a:latin typeface="Trebuchet MS"/>
                <a:cs typeface="Trebuchet MS"/>
              </a:rPr>
              <a:t>column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A362F"/>
                </a:solidFill>
                <a:latin typeface="Trebuchet MS"/>
                <a:cs typeface="Trebuchet MS"/>
              </a:rPr>
              <a:t>distributions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3A362F"/>
                </a:solidFill>
                <a:latin typeface="Trebuchet MS"/>
                <a:cs typeface="Trebuchet MS"/>
              </a:rPr>
              <a:t>handled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missing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A362F"/>
                </a:solidFill>
                <a:latin typeface="Trebuchet MS"/>
                <a:cs typeface="Trebuchet MS"/>
              </a:rPr>
              <a:t>values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quality.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spc="30">
                <a:solidFill>
                  <a:srgbClr val="3A362F"/>
                </a:solidFill>
                <a:latin typeface="Cambria"/>
                <a:cs typeface="Cambria"/>
              </a:rPr>
              <a:t>03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900" spc="100">
                <a:solidFill>
                  <a:srgbClr val="3A362F"/>
                </a:solidFill>
                <a:latin typeface="Cambria"/>
                <a:cs typeface="Cambria"/>
              </a:rPr>
              <a:t>Data</a:t>
            </a:r>
            <a:r>
              <a:rPr dirty="0" sz="1900" spc="10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100">
                <a:solidFill>
                  <a:srgbClr val="3A362F"/>
                </a:solidFill>
                <a:latin typeface="Cambria"/>
                <a:cs typeface="Cambria"/>
              </a:rPr>
              <a:t>Cleaning</a:t>
            </a:r>
            <a:r>
              <a:rPr dirty="0" sz="1900" spc="10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1900" spc="11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80">
                <a:solidFill>
                  <a:srgbClr val="3A362F"/>
                </a:solidFill>
                <a:latin typeface="Cambria"/>
                <a:cs typeface="Cambria"/>
              </a:rPr>
              <a:t>Feature</a:t>
            </a:r>
            <a:r>
              <a:rPr dirty="0" sz="1900" spc="10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75">
                <a:solidFill>
                  <a:srgbClr val="3A362F"/>
                </a:solidFill>
                <a:latin typeface="Cambria"/>
                <a:cs typeface="Cambria"/>
              </a:rPr>
              <a:t>Engineering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600" spc="-35">
                <a:solidFill>
                  <a:srgbClr val="3A362F"/>
                </a:solidFill>
                <a:latin typeface="Trebuchet MS"/>
                <a:cs typeface="Trebuchet MS"/>
              </a:rPr>
              <a:t>Renamed</a:t>
            </a:r>
            <a:r>
              <a:rPr dirty="0" sz="1600" spc="-11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A362F"/>
                </a:solidFill>
                <a:latin typeface="Trebuchet MS"/>
                <a:cs typeface="Trebuchet MS"/>
              </a:rPr>
              <a:t>columns,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3A362F"/>
                </a:solidFill>
                <a:latin typeface="Trebuchet MS"/>
                <a:cs typeface="Trebuchet MS"/>
              </a:rPr>
              <a:t>fixed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3A362F"/>
                </a:solidFill>
                <a:latin typeface="Trebuchet MS"/>
                <a:cs typeface="Trebuchet MS"/>
              </a:rPr>
              <a:t>inconsistencies,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3A362F"/>
                </a:solidFill>
                <a:latin typeface="Trebuchet MS"/>
                <a:cs typeface="Trebuchet MS"/>
              </a:rPr>
              <a:t>created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A362F"/>
                </a:solidFill>
                <a:latin typeface="Trebuchet MS"/>
                <a:cs typeface="Trebuchet MS"/>
              </a:rPr>
              <a:t>new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3A362F"/>
                </a:solidFill>
                <a:latin typeface="Trebuchet MS"/>
                <a:cs typeface="Trebuchet MS"/>
              </a:rPr>
              <a:t>features</a:t>
            </a:r>
            <a:r>
              <a:rPr dirty="0" sz="1600" spc="-11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3A362F"/>
                </a:solidFill>
                <a:latin typeface="Trebuchet MS"/>
                <a:cs typeface="Trebuchet MS"/>
              </a:rPr>
              <a:t>like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80">
                <a:solidFill>
                  <a:srgbClr val="3A362F"/>
                </a:solidFill>
                <a:latin typeface="Trebuchet MS"/>
                <a:cs typeface="Trebuchet MS"/>
              </a:rPr>
              <a:t>age,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80">
                <a:solidFill>
                  <a:srgbClr val="3A362F"/>
                </a:solidFill>
                <a:latin typeface="Trebuchet MS"/>
                <a:cs typeface="Trebuchet MS"/>
              </a:rPr>
              <a:t>tenure,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160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levels.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25">
                <a:solidFill>
                  <a:srgbClr val="3A362F"/>
                </a:solidFill>
                <a:latin typeface="Cambria"/>
                <a:cs typeface="Cambria"/>
              </a:rPr>
              <a:t>04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spc="100">
                <a:solidFill>
                  <a:srgbClr val="3A362F"/>
                </a:solidFill>
                <a:latin typeface="Cambria"/>
                <a:cs typeface="Cambria"/>
              </a:rPr>
              <a:t>Data</a:t>
            </a:r>
            <a:r>
              <a:rPr dirty="0" sz="1900" spc="10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70">
                <a:solidFill>
                  <a:srgbClr val="3A362F"/>
                </a:solidFill>
                <a:latin typeface="Cambria"/>
                <a:cs typeface="Cambria"/>
              </a:rPr>
              <a:t>Validation</a:t>
            </a:r>
            <a:r>
              <a:rPr dirty="0" sz="1900" spc="10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1900" spc="11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900" spc="80">
                <a:solidFill>
                  <a:srgbClr val="3A362F"/>
                </a:solidFill>
                <a:latin typeface="Cambria"/>
                <a:cs typeface="Cambria"/>
              </a:rPr>
              <a:t>Export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80">
                <a:solidFill>
                  <a:srgbClr val="3A362F"/>
                </a:solidFill>
                <a:latin typeface="Trebuchet MS"/>
                <a:cs typeface="Trebuchet MS"/>
              </a:rPr>
              <a:t>Verified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A362F"/>
                </a:solidFill>
                <a:latin typeface="Trebuchet MS"/>
                <a:cs typeface="Trebuchet MS"/>
              </a:rPr>
              <a:t>new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3A362F"/>
                </a:solidFill>
                <a:latin typeface="Trebuchet MS"/>
                <a:cs typeface="Trebuchet MS"/>
              </a:rPr>
              <a:t>columns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3A362F"/>
                </a:solidFill>
                <a:latin typeface="Trebuchet MS"/>
                <a:cs typeface="Trebuchet MS"/>
              </a:rPr>
              <a:t>loaded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3A362F"/>
                </a:solidFill>
                <a:latin typeface="Trebuchet MS"/>
                <a:cs typeface="Trebuchet MS"/>
              </a:rPr>
              <a:t>cleaned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3A362F"/>
                </a:solidFill>
                <a:latin typeface="Trebuchet MS"/>
                <a:cs typeface="Trebuchet MS"/>
              </a:rPr>
              <a:t>PostgreSQL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3A362F"/>
                </a:solidFill>
                <a:latin typeface="Trebuchet MS"/>
                <a:cs typeface="Trebuchet MS"/>
              </a:rPr>
              <a:t>further</a:t>
            </a:r>
            <a:r>
              <a:rPr dirty="0" sz="160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3A362F"/>
                </a:solidFill>
                <a:latin typeface="Trebuchet MS"/>
                <a:cs typeface="Trebuchet MS"/>
              </a:rPr>
              <a:t>analysis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1600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A362F"/>
                </a:solidFill>
                <a:latin typeface="Trebuchet MS"/>
                <a:cs typeface="Trebuchet MS"/>
              </a:rPr>
              <a:t>reporting.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71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04"/>
              <a:t>Data</a:t>
            </a:r>
            <a:r>
              <a:rPr dirty="0" spc="195"/>
              <a:t> </a:t>
            </a:r>
            <a:r>
              <a:rPr dirty="0" spc="175"/>
              <a:t>Understanding:</a:t>
            </a:r>
            <a:r>
              <a:rPr dirty="0" spc="200"/>
              <a:t> </a:t>
            </a:r>
            <a:r>
              <a:rPr dirty="0" spc="85"/>
              <a:t>Initial</a:t>
            </a:r>
            <a:r>
              <a:rPr dirty="0" spc="195"/>
              <a:t> </a:t>
            </a:r>
            <a:r>
              <a:rPr dirty="0" spc="140"/>
              <a:t>Insights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4459" y="2263044"/>
            <a:ext cx="7453630" cy="1567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120">
                <a:solidFill>
                  <a:srgbClr val="37502E"/>
                </a:solidFill>
                <a:latin typeface="Cambria"/>
                <a:cs typeface="Cambria"/>
              </a:rPr>
              <a:t>Dataset</a:t>
            </a:r>
            <a:r>
              <a:rPr dirty="0" sz="2750" spc="13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dirty="0" sz="2750" spc="114">
                <a:solidFill>
                  <a:srgbClr val="37502E"/>
                </a:solidFill>
                <a:latin typeface="Cambria"/>
                <a:cs typeface="Cambria"/>
              </a:rPr>
              <a:t>Structure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1480"/>
              </a:spcBef>
            </a:pP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Initial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view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of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dataset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structure,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column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names,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data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types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5">
                <a:solidFill>
                  <a:srgbClr val="3A362F"/>
                </a:solidFill>
                <a:latin typeface="Trebuchet MS"/>
                <a:cs typeface="Trebuchet MS"/>
              </a:rPr>
              <a:t>df.info()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df.head().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159" y="4362002"/>
            <a:ext cx="7731623" cy="38766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505746" y="2263044"/>
            <a:ext cx="6854190" cy="1567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110">
                <a:solidFill>
                  <a:srgbClr val="37502E"/>
                </a:solidFill>
                <a:latin typeface="Cambria"/>
                <a:cs typeface="Cambria"/>
              </a:rPr>
              <a:t>Summary</a:t>
            </a:r>
            <a:r>
              <a:rPr dirty="0" sz="2750" spc="12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dirty="0" sz="2750" spc="95">
                <a:solidFill>
                  <a:srgbClr val="37502E"/>
                </a:solidFill>
                <a:latin typeface="Cambria"/>
                <a:cs typeface="Cambria"/>
              </a:rPr>
              <a:t>Statistics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1480"/>
              </a:spcBef>
            </a:pP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Detailed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statistical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overview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of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numerical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columns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(age,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scores,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ratings)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df.describe().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446" y="4362002"/>
            <a:ext cx="7734299" cy="4742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056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51955" marR="5080">
              <a:lnSpc>
                <a:spcPts val="4880"/>
              </a:lnSpc>
            </a:pPr>
            <a:r>
              <a:rPr dirty="0" sz="3850" spc="180"/>
              <a:t>Data</a:t>
            </a:r>
            <a:r>
              <a:rPr dirty="0" sz="3850" spc="170"/>
              <a:t> </a:t>
            </a:r>
            <a:r>
              <a:rPr dirty="0" sz="3850" spc="80"/>
              <a:t>Analysis</a:t>
            </a:r>
            <a:r>
              <a:rPr dirty="0" sz="3850" spc="185"/>
              <a:t> </a:t>
            </a:r>
            <a:r>
              <a:rPr dirty="0" sz="3850" spc="140"/>
              <a:t>using</a:t>
            </a:r>
            <a:r>
              <a:rPr dirty="0" sz="3850" spc="180"/>
              <a:t> </a:t>
            </a:r>
            <a:r>
              <a:rPr dirty="0" sz="3850" spc="229"/>
              <a:t>SQL:</a:t>
            </a:r>
            <a:r>
              <a:rPr dirty="0" sz="3850" spc="180"/>
              <a:t> </a:t>
            </a:r>
            <a:r>
              <a:rPr dirty="0" sz="3850" spc="170"/>
              <a:t>Key</a:t>
            </a:r>
            <a:r>
              <a:rPr dirty="0" sz="3850" spc="185"/>
              <a:t> </a:t>
            </a:r>
            <a:r>
              <a:rPr dirty="0" sz="3850" spc="165"/>
              <a:t>HR </a:t>
            </a:r>
            <a:r>
              <a:rPr dirty="0" sz="3850" spc="185"/>
              <a:t>Questions</a:t>
            </a:r>
            <a:endParaRPr sz="3850"/>
          </a:p>
        </p:txBody>
      </p:sp>
      <p:sp>
        <p:nvSpPr>
          <p:cNvPr id="4" name="object 4" descr=""/>
          <p:cNvSpPr/>
          <p:nvPr/>
        </p:nvSpPr>
        <p:spPr>
          <a:xfrm>
            <a:off x="7885956" y="2385334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4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885956" y="4314004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5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885956" y="6242663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5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885956" y="8171325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5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636000" y="2158752"/>
            <a:ext cx="8583930" cy="7269480"/>
          </a:xfrm>
          <a:prstGeom prst="rect">
            <a:avLst/>
          </a:prstGeom>
        </p:spPr>
        <p:txBody>
          <a:bodyPr wrap="square" lIns="0" tIns="2082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dirty="0" sz="2400" spc="110">
                <a:solidFill>
                  <a:srgbClr val="3A362F"/>
                </a:solidFill>
                <a:latin typeface="Cambria"/>
                <a:cs typeface="Cambria"/>
              </a:rPr>
              <a:t>Employee</a:t>
            </a:r>
            <a:r>
              <a:rPr dirty="0" sz="2400" spc="13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95">
                <a:solidFill>
                  <a:srgbClr val="3A362F"/>
                </a:solidFill>
                <a:latin typeface="Cambria"/>
                <a:cs typeface="Cambria"/>
              </a:rPr>
              <a:t>Exits</a:t>
            </a:r>
            <a:r>
              <a:rPr dirty="0" sz="2400" spc="14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2400" spc="14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75">
                <a:solidFill>
                  <a:srgbClr val="3A362F"/>
                </a:solidFill>
                <a:latin typeface="Cambria"/>
                <a:cs typeface="Cambria"/>
              </a:rPr>
              <a:t>Attrition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34100"/>
              </a:lnSpc>
              <a:spcBef>
                <a:spcPts val="455"/>
              </a:spcBef>
            </a:pPr>
            <a:r>
              <a:rPr dirty="0" sz="2050" spc="-45">
                <a:solidFill>
                  <a:srgbClr val="3A362F"/>
                </a:solidFill>
                <a:latin typeface="Trebuchet MS"/>
                <a:cs typeface="Trebuchet MS"/>
              </a:rPr>
              <a:t>Counted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3A362F"/>
                </a:solidFill>
                <a:latin typeface="Trebuchet MS"/>
                <a:cs typeface="Trebuchet MS"/>
              </a:rPr>
              <a:t>who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25">
                <a:solidFill>
                  <a:srgbClr val="3A362F"/>
                </a:solidFill>
                <a:latin typeface="Trebuchet MS"/>
                <a:cs typeface="Trebuchet MS"/>
              </a:rPr>
              <a:t>left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identified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55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75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5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highest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050" spc="-14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rates.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400" spc="130">
                <a:solidFill>
                  <a:srgbClr val="3A362F"/>
                </a:solidFill>
                <a:latin typeface="Cambria"/>
                <a:cs typeface="Cambria"/>
              </a:rPr>
              <a:t>Demographic</a:t>
            </a:r>
            <a:r>
              <a:rPr dirty="0" sz="2400" spc="14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2400" spc="14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120">
                <a:solidFill>
                  <a:srgbClr val="3A362F"/>
                </a:solidFill>
                <a:latin typeface="Cambria"/>
                <a:cs typeface="Cambria"/>
              </a:rPr>
              <a:t>Location</a:t>
            </a:r>
            <a:r>
              <a:rPr dirty="0" sz="2400" spc="14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95">
                <a:solidFill>
                  <a:srgbClr val="3A362F"/>
                </a:solidFill>
                <a:latin typeface="Cambria"/>
                <a:cs typeface="Cambria"/>
              </a:rPr>
              <a:t>Trends</a:t>
            </a:r>
            <a:endParaRPr sz="2400">
              <a:latin typeface="Cambria"/>
              <a:cs typeface="Cambria"/>
            </a:endParaRPr>
          </a:p>
          <a:p>
            <a:pPr marL="12700" marR="841375">
              <a:lnSpc>
                <a:spcPct val="134100"/>
              </a:lnSpc>
              <a:spcBef>
                <a:spcPts val="455"/>
              </a:spcBef>
            </a:pPr>
            <a:r>
              <a:rPr dirty="0" sz="2050" spc="-40">
                <a:solidFill>
                  <a:srgbClr val="3A362F"/>
                </a:solidFill>
                <a:latin typeface="Trebuchet MS"/>
                <a:cs typeface="Trebuchet MS"/>
              </a:rPr>
              <a:t>Compared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65">
                <a:solidFill>
                  <a:srgbClr val="3A362F"/>
                </a:solidFill>
                <a:latin typeface="Trebuchet MS"/>
                <a:cs typeface="Trebuchet MS"/>
              </a:rPr>
              <a:t>gender-</a:t>
            </a:r>
            <a:r>
              <a:rPr dirty="0" sz="2050" spc="-30">
                <a:solidFill>
                  <a:srgbClr val="3A362F"/>
                </a:solidFill>
                <a:latin typeface="Trebuchet MS"/>
                <a:cs typeface="Trebuchet MS"/>
              </a:rPr>
              <a:t>based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40">
                <a:solidFill>
                  <a:srgbClr val="3A362F"/>
                </a:solidFill>
                <a:latin typeface="Trebuchet MS"/>
                <a:cs typeface="Trebuchet MS"/>
              </a:rPr>
              <a:t>found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45">
                <a:solidFill>
                  <a:srgbClr val="3A362F"/>
                </a:solidFill>
                <a:latin typeface="Trebuchet MS"/>
                <a:cs typeface="Trebuchet MS"/>
              </a:rPr>
              <a:t>locations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75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5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highest </a:t>
            </a:r>
            <a:r>
              <a:rPr dirty="0" sz="2050" spc="-6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050" spc="-15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exits.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400" spc="120">
                <a:solidFill>
                  <a:srgbClr val="3A362F"/>
                </a:solidFill>
                <a:latin typeface="Cambria"/>
                <a:cs typeface="Cambria"/>
              </a:rPr>
              <a:t>Tenure</a:t>
            </a:r>
            <a:r>
              <a:rPr dirty="0" sz="2400" spc="13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2400" spc="13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120">
                <a:solidFill>
                  <a:srgbClr val="3A362F"/>
                </a:solidFill>
                <a:latin typeface="Cambria"/>
                <a:cs typeface="Cambria"/>
              </a:rPr>
              <a:t>Performance</a:t>
            </a:r>
            <a:r>
              <a:rPr dirty="0" sz="2400" spc="13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114">
                <a:solidFill>
                  <a:srgbClr val="3A362F"/>
                </a:solidFill>
                <a:latin typeface="Cambria"/>
                <a:cs typeface="Cambria"/>
              </a:rPr>
              <a:t>Impact</a:t>
            </a:r>
            <a:endParaRPr sz="2400">
              <a:latin typeface="Cambria"/>
              <a:cs typeface="Cambria"/>
            </a:endParaRPr>
          </a:p>
          <a:p>
            <a:pPr marL="12700" marR="1074420">
              <a:lnSpc>
                <a:spcPct val="134100"/>
              </a:lnSpc>
              <a:spcBef>
                <a:spcPts val="455"/>
              </a:spcBef>
            </a:pPr>
            <a:r>
              <a:rPr dirty="0" sz="2050" spc="-70">
                <a:solidFill>
                  <a:srgbClr val="3A362F"/>
                </a:solidFill>
                <a:latin typeface="Trebuchet MS"/>
                <a:cs typeface="Trebuchet MS"/>
              </a:rPr>
              <a:t>Calculated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65">
                <a:solidFill>
                  <a:srgbClr val="3A362F"/>
                </a:solidFill>
                <a:latin typeface="Trebuchet MS"/>
                <a:cs typeface="Trebuchet MS"/>
              </a:rPr>
              <a:t>average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tenure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before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10">
                <a:solidFill>
                  <a:srgbClr val="3A362F"/>
                </a:solidFill>
                <a:latin typeface="Trebuchet MS"/>
                <a:cs typeface="Trebuchet MS"/>
              </a:rPr>
              <a:t>exit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05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65">
                <a:solidFill>
                  <a:srgbClr val="3A362F"/>
                </a:solidFill>
                <a:latin typeface="Trebuchet MS"/>
                <a:cs typeface="Trebuchet MS"/>
              </a:rPr>
              <a:t>checked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25">
                <a:solidFill>
                  <a:srgbClr val="3A362F"/>
                </a:solidFill>
                <a:latin typeface="Trebuchet MS"/>
                <a:cs typeface="Trebuchet MS"/>
              </a:rPr>
              <a:t>if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65">
                <a:solidFill>
                  <a:srgbClr val="3A362F"/>
                </a:solidFill>
                <a:latin typeface="Trebuchet MS"/>
                <a:cs typeface="Trebuchet MS"/>
              </a:rPr>
              <a:t>low-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performing </a:t>
            </a:r>
            <a:r>
              <a:rPr dirty="0" sz="2050" spc="-5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leave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3A362F"/>
                </a:solidFill>
                <a:latin typeface="Trebuchet MS"/>
                <a:cs typeface="Trebuchet MS"/>
              </a:rPr>
              <a:t>more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frequently.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400" spc="140">
                <a:solidFill>
                  <a:srgbClr val="3A362F"/>
                </a:solidFill>
                <a:latin typeface="Cambria"/>
                <a:cs typeface="Cambria"/>
              </a:rPr>
              <a:t>Current</a:t>
            </a:r>
            <a:r>
              <a:rPr dirty="0" sz="2400" spc="17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120">
                <a:solidFill>
                  <a:srgbClr val="3A362F"/>
                </a:solidFill>
                <a:latin typeface="Cambria"/>
                <a:cs typeface="Cambria"/>
              </a:rPr>
              <a:t>Workforce</a:t>
            </a:r>
            <a:r>
              <a:rPr dirty="0" sz="2400" spc="17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dirty="0" sz="2400" spc="17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185">
                <a:solidFill>
                  <a:srgbClr val="3A362F"/>
                </a:solidFill>
                <a:latin typeface="Cambria"/>
                <a:cs typeface="Cambria"/>
              </a:rPr>
              <a:t>High-</a:t>
            </a:r>
            <a:r>
              <a:rPr dirty="0" sz="2400">
                <a:solidFill>
                  <a:srgbClr val="3A362F"/>
                </a:solidFill>
                <a:latin typeface="Cambria"/>
                <a:cs typeface="Cambria"/>
              </a:rPr>
              <a:t>Risk</a:t>
            </a:r>
            <a:r>
              <a:rPr dirty="0" sz="2400" spc="17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400" spc="70">
                <a:solidFill>
                  <a:srgbClr val="3A362F"/>
                </a:solidFill>
                <a:latin typeface="Cambria"/>
                <a:cs typeface="Cambria"/>
              </a:rPr>
              <a:t>Roles</a:t>
            </a:r>
            <a:endParaRPr sz="2400">
              <a:latin typeface="Cambria"/>
              <a:cs typeface="Cambria"/>
            </a:endParaRPr>
          </a:p>
          <a:p>
            <a:pPr marL="12700" marR="341630">
              <a:lnSpc>
                <a:spcPct val="134100"/>
              </a:lnSpc>
              <a:spcBef>
                <a:spcPts val="459"/>
              </a:spcBef>
            </a:pPr>
            <a:r>
              <a:rPr dirty="0" sz="2050" spc="-45">
                <a:solidFill>
                  <a:srgbClr val="3A362F"/>
                </a:solidFill>
                <a:latin typeface="Trebuchet MS"/>
                <a:cs typeface="Trebuchet MS"/>
              </a:rPr>
              <a:t>Counted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5">
                <a:solidFill>
                  <a:srgbClr val="3A362F"/>
                </a:solidFill>
                <a:latin typeface="Trebuchet MS"/>
                <a:cs typeface="Trebuchet MS"/>
              </a:rPr>
              <a:t>active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35">
                <a:solidFill>
                  <a:srgbClr val="3A362F"/>
                </a:solidFill>
                <a:latin typeface="Trebuchet MS"/>
                <a:cs typeface="Trebuchet MS"/>
              </a:rPr>
              <a:t>by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65">
                <a:solidFill>
                  <a:srgbClr val="3A362F"/>
                </a:solidFill>
                <a:latin typeface="Trebuchet MS"/>
                <a:cs typeface="Trebuchet MS"/>
              </a:rPr>
              <a:t>department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3A362F"/>
                </a:solidFill>
                <a:latin typeface="Trebuchet MS"/>
                <a:cs typeface="Trebuchet MS"/>
              </a:rPr>
              <a:t>identified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85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3A362F"/>
                </a:solidFill>
                <a:latin typeface="Trebuchet MS"/>
                <a:cs typeface="Trebuchet MS"/>
              </a:rPr>
              <a:t>roles</a:t>
            </a:r>
            <a:r>
              <a:rPr dirty="0" sz="205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75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dirty="0" sz="205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3A362F"/>
                </a:solidFill>
                <a:latin typeface="Trebuchet MS"/>
                <a:cs typeface="Trebuchet MS"/>
              </a:rPr>
              <a:t>high </a:t>
            </a:r>
            <a:r>
              <a:rPr dirty="0" sz="2050" spc="-10">
                <a:solidFill>
                  <a:srgbClr val="3A362F"/>
                </a:solidFill>
                <a:latin typeface="Trebuchet MS"/>
                <a:cs typeface="Trebuchet MS"/>
              </a:rPr>
              <a:t>turnover.</a:t>
            </a:r>
            <a:endParaRPr sz="2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2649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4459" y="2028805"/>
            <a:ext cx="8849995" cy="13874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480"/>
              </a:lnSpc>
            </a:pPr>
            <a:r>
              <a:rPr dirty="0" spc="220"/>
              <a:t>HR</a:t>
            </a:r>
            <a:r>
              <a:rPr dirty="0" spc="195"/>
              <a:t> </a:t>
            </a:r>
            <a:r>
              <a:rPr dirty="0" spc="130"/>
              <a:t>Analytics</a:t>
            </a:r>
            <a:r>
              <a:rPr dirty="0" spc="215"/>
              <a:t> </a:t>
            </a:r>
            <a:r>
              <a:rPr dirty="0" spc="155"/>
              <a:t>Dashboard:</a:t>
            </a:r>
            <a:r>
              <a:rPr dirty="0" spc="210"/>
              <a:t> </a:t>
            </a:r>
            <a:r>
              <a:rPr dirty="0" spc="165"/>
              <a:t>Power</a:t>
            </a:r>
            <a:r>
              <a:rPr dirty="0" spc="210"/>
              <a:t> </a:t>
            </a:r>
            <a:r>
              <a:rPr dirty="0" spc="-25"/>
              <a:t>BI </a:t>
            </a:r>
            <a:r>
              <a:rPr dirty="0" spc="150"/>
              <a:t>Overview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034459" y="3749170"/>
            <a:ext cx="9314180" cy="4225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An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interactive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Power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A362F"/>
                </a:solidFill>
                <a:latin typeface="Trebuchet MS"/>
                <a:cs typeface="Trebuchet MS"/>
              </a:rPr>
              <a:t>BI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dashboard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was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created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help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teams</a:t>
            </a:r>
            <a:r>
              <a:rPr dirty="0" sz="2300" spc="-2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monitor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trends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make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data-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driven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decisions.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dashboard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visualizes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key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metrics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such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as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employees,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45">
                <a:solidFill>
                  <a:srgbClr val="3A362F"/>
                </a:solidFill>
                <a:latin typeface="Trebuchet MS"/>
                <a:cs typeface="Trebuchet MS"/>
              </a:rPr>
              <a:t>rate,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levels,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scores,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distribution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across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departments,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job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roles,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gender,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experience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10">
                <a:solidFill>
                  <a:srgbClr val="3A362F"/>
                </a:solidFill>
                <a:latin typeface="Trebuchet MS"/>
                <a:cs typeface="Trebuchet MS"/>
              </a:rPr>
              <a:t>levels.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It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enables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easy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identification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of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patterns,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high-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risk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areas,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gaps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through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dynamic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filters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drill-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down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14">
                <a:solidFill>
                  <a:srgbClr val="3A362F"/>
                </a:solidFill>
                <a:latin typeface="Trebuchet MS"/>
                <a:cs typeface="Trebuchet MS"/>
              </a:rPr>
              <a:t>features.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These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support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professionals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in 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improving</a:t>
            </a:r>
            <a:r>
              <a:rPr dirty="0" sz="2300" spc="-1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retention,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management,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strategic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dirty="0" sz="2300" spc="-1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planning.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3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80"/>
              <a:t>Dashboard</a:t>
            </a:r>
            <a:r>
              <a:rPr dirty="0" spc="204"/>
              <a:t> </a:t>
            </a:r>
            <a:r>
              <a:rPr dirty="0" spc="150"/>
              <a:t>Highlights:</a:t>
            </a:r>
            <a:r>
              <a:rPr dirty="0" spc="200"/>
              <a:t> </a:t>
            </a:r>
            <a:r>
              <a:rPr dirty="0" spc="190"/>
              <a:t>Key</a:t>
            </a:r>
            <a:r>
              <a:rPr dirty="0" spc="204"/>
              <a:t> </a:t>
            </a:r>
            <a:r>
              <a:rPr dirty="0" spc="140"/>
              <a:t>Insights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47159" y="2029273"/>
            <a:ext cx="5198745" cy="3851275"/>
            <a:chOff x="1047159" y="2029273"/>
            <a:chExt cx="5198745" cy="3851275"/>
          </a:xfrm>
        </p:grpSpPr>
        <p:sp>
          <p:nvSpPr>
            <p:cNvPr id="4" name="object 4" descr=""/>
            <p:cNvSpPr/>
            <p:nvPr/>
          </p:nvSpPr>
          <p:spPr>
            <a:xfrm>
              <a:off x="1047159" y="2029273"/>
              <a:ext cx="5198745" cy="3851275"/>
            </a:xfrm>
            <a:custGeom>
              <a:avLst/>
              <a:gdLst/>
              <a:ahLst/>
              <a:cxnLst/>
              <a:rect l="l" t="t" r="r" b="b"/>
              <a:pathLst>
                <a:path w="5198745" h="3851275">
                  <a:moveTo>
                    <a:pt x="5153500" y="3850766"/>
                  </a:moveTo>
                  <a:lnTo>
                    <a:pt x="44862" y="3850766"/>
                  </a:lnTo>
                  <a:lnTo>
                    <a:pt x="27405" y="3847239"/>
                  </a:lnTo>
                  <a:lnTo>
                    <a:pt x="13144" y="3837621"/>
                  </a:lnTo>
                  <a:lnTo>
                    <a:pt x="3527" y="3823361"/>
                  </a:lnTo>
                  <a:lnTo>
                    <a:pt x="0" y="380590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5153500" y="0"/>
                  </a:lnTo>
                  <a:lnTo>
                    <a:pt x="5170958" y="3527"/>
                  </a:lnTo>
                  <a:lnTo>
                    <a:pt x="5185218" y="13144"/>
                  </a:lnTo>
                  <a:lnTo>
                    <a:pt x="5194836" y="27405"/>
                  </a:lnTo>
                  <a:lnTo>
                    <a:pt x="5198363" y="44862"/>
                  </a:lnTo>
                  <a:lnTo>
                    <a:pt x="5198363" y="3805903"/>
                  </a:lnTo>
                  <a:lnTo>
                    <a:pt x="5194836" y="3823361"/>
                  </a:lnTo>
                  <a:lnTo>
                    <a:pt x="5185218" y="3837621"/>
                  </a:lnTo>
                  <a:lnTo>
                    <a:pt x="5170958" y="3847239"/>
                  </a:lnTo>
                  <a:lnTo>
                    <a:pt x="5153500" y="385076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46301" y="2328415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89" h="897889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2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1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7" y="399920"/>
                  </a:lnTo>
                  <a:lnTo>
                    <a:pt x="897540" y="448817"/>
                  </a:lnTo>
                  <a:lnTo>
                    <a:pt x="894907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2"/>
                  </a:lnTo>
                  <a:lnTo>
                    <a:pt x="749471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590" y="2584937"/>
              <a:ext cx="418986" cy="37974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333601" y="3269469"/>
            <a:ext cx="4172585" cy="1666239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750" spc="100">
                <a:solidFill>
                  <a:srgbClr val="3A362F"/>
                </a:solidFill>
                <a:latin typeface="Cambria"/>
                <a:cs typeface="Cambria"/>
              </a:rPr>
              <a:t>Employee</a:t>
            </a:r>
            <a:r>
              <a:rPr dirty="0" sz="2750" spc="14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750" spc="80">
                <a:solidFill>
                  <a:srgbClr val="3A362F"/>
                </a:solidFill>
                <a:latin typeface="Cambria"/>
                <a:cs typeface="Cambria"/>
              </a:rPr>
              <a:t>Overview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employees,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number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3A362F"/>
                </a:solidFill>
                <a:latin typeface="Trebuchet MS"/>
                <a:cs typeface="Trebuchet MS"/>
              </a:rPr>
              <a:t>of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exits,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45">
                <a:solidFill>
                  <a:srgbClr val="3A362F"/>
                </a:solidFill>
                <a:latin typeface="Trebuchet MS"/>
                <a:cs typeface="Trebuchet MS"/>
              </a:rPr>
              <a:t>rate,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average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tenure.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544712" y="2029273"/>
            <a:ext cx="5198745" cy="3851275"/>
            <a:chOff x="6544712" y="2029273"/>
            <a:chExt cx="5198745" cy="3851275"/>
          </a:xfrm>
        </p:grpSpPr>
        <p:sp>
          <p:nvSpPr>
            <p:cNvPr id="9" name="object 9" descr=""/>
            <p:cNvSpPr/>
            <p:nvPr/>
          </p:nvSpPr>
          <p:spPr>
            <a:xfrm>
              <a:off x="6544712" y="2029273"/>
              <a:ext cx="5198745" cy="3851275"/>
            </a:xfrm>
            <a:custGeom>
              <a:avLst/>
              <a:gdLst/>
              <a:ahLst/>
              <a:cxnLst/>
              <a:rect l="l" t="t" r="r" b="b"/>
              <a:pathLst>
                <a:path w="5198745" h="3851275">
                  <a:moveTo>
                    <a:pt x="5153500" y="3850766"/>
                  </a:moveTo>
                  <a:lnTo>
                    <a:pt x="44862" y="3850766"/>
                  </a:lnTo>
                  <a:lnTo>
                    <a:pt x="27405" y="3847239"/>
                  </a:lnTo>
                  <a:lnTo>
                    <a:pt x="13144" y="3837621"/>
                  </a:lnTo>
                  <a:lnTo>
                    <a:pt x="3527" y="3823361"/>
                  </a:lnTo>
                  <a:lnTo>
                    <a:pt x="0" y="380590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5153500" y="0"/>
                  </a:lnTo>
                  <a:lnTo>
                    <a:pt x="5170958" y="3527"/>
                  </a:lnTo>
                  <a:lnTo>
                    <a:pt x="5185218" y="13144"/>
                  </a:lnTo>
                  <a:lnTo>
                    <a:pt x="5194835" y="27405"/>
                  </a:lnTo>
                  <a:lnTo>
                    <a:pt x="5198362" y="44862"/>
                  </a:lnTo>
                  <a:lnTo>
                    <a:pt x="5198362" y="3805903"/>
                  </a:lnTo>
                  <a:lnTo>
                    <a:pt x="5194835" y="3823361"/>
                  </a:lnTo>
                  <a:lnTo>
                    <a:pt x="5185218" y="3837621"/>
                  </a:lnTo>
                  <a:lnTo>
                    <a:pt x="5170958" y="3847239"/>
                  </a:lnTo>
                  <a:lnTo>
                    <a:pt x="5153500" y="385076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43865" y="2328415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2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2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8" y="399920"/>
                  </a:lnTo>
                  <a:lnTo>
                    <a:pt x="897540" y="448817"/>
                  </a:lnTo>
                  <a:lnTo>
                    <a:pt x="894908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2"/>
                  </a:lnTo>
                  <a:lnTo>
                    <a:pt x="749472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89709" y="2595229"/>
              <a:ext cx="402590" cy="360045"/>
            </a:xfrm>
            <a:custGeom>
              <a:avLst/>
              <a:gdLst/>
              <a:ahLst/>
              <a:cxnLst/>
              <a:rect l="l" t="t" r="r" b="b"/>
              <a:pathLst>
                <a:path w="402590" h="360044">
                  <a:moveTo>
                    <a:pt x="176188" y="161301"/>
                  </a:moveTo>
                  <a:lnTo>
                    <a:pt x="156123" y="136804"/>
                  </a:lnTo>
                  <a:lnTo>
                    <a:pt x="151638" y="137270"/>
                  </a:lnTo>
                  <a:lnTo>
                    <a:pt x="135663" y="157875"/>
                  </a:lnTo>
                  <a:lnTo>
                    <a:pt x="136385" y="162368"/>
                  </a:lnTo>
                  <a:lnTo>
                    <a:pt x="138585" y="169921"/>
                  </a:lnTo>
                </a:path>
                <a:path w="402590" h="360044">
                  <a:moveTo>
                    <a:pt x="364132" y="74853"/>
                  </a:moveTo>
                  <a:lnTo>
                    <a:pt x="362320" y="70603"/>
                  </a:lnTo>
                  <a:lnTo>
                    <a:pt x="361520" y="67007"/>
                  </a:lnTo>
                  <a:lnTo>
                    <a:pt x="361439" y="63304"/>
                  </a:lnTo>
                  <a:lnTo>
                    <a:pt x="362232" y="59259"/>
                  </a:lnTo>
                  <a:lnTo>
                    <a:pt x="383077" y="44292"/>
                  </a:lnTo>
                  <a:lnTo>
                    <a:pt x="386750" y="44869"/>
                  </a:lnTo>
                  <a:lnTo>
                    <a:pt x="402446" y="64945"/>
                  </a:lnTo>
                  <a:lnTo>
                    <a:pt x="402118" y="67950"/>
                  </a:lnTo>
                  <a:lnTo>
                    <a:pt x="383017" y="84904"/>
                  </a:lnTo>
                  <a:lnTo>
                    <a:pt x="377228" y="84446"/>
                  </a:lnTo>
                  <a:lnTo>
                    <a:pt x="367498" y="81095"/>
                  </a:lnTo>
                </a:path>
                <a:path w="402590" h="360044">
                  <a:moveTo>
                    <a:pt x="0" y="0"/>
                  </a:moveTo>
                  <a:lnTo>
                    <a:pt x="108" y="359929"/>
                  </a:lnTo>
                </a:path>
                <a:path w="402590" h="360044">
                  <a:moveTo>
                    <a:pt x="400528" y="359910"/>
                  </a:moveTo>
                  <a:lnTo>
                    <a:pt x="108" y="359929"/>
                  </a:lnTo>
                </a:path>
              </a:pathLst>
            </a:custGeom>
            <a:ln w="179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0283" y="2661114"/>
              <a:ext cx="345842" cy="21421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6831164" y="3269469"/>
            <a:ext cx="4582795" cy="2132965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820"/>
              </a:spcBef>
            </a:pPr>
            <a:r>
              <a:rPr dirty="0" sz="2750" spc="75">
                <a:solidFill>
                  <a:srgbClr val="3A362F"/>
                </a:solidFill>
                <a:latin typeface="Cambria"/>
                <a:cs typeface="Cambria"/>
              </a:rPr>
              <a:t>Attrition</a:t>
            </a:r>
            <a:r>
              <a:rPr dirty="0" sz="2750" spc="14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750" spc="75">
                <a:solidFill>
                  <a:srgbClr val="3A362F"/>
                </a:solidFill>
                <a:latin typeface="Cambria"/>
                <a:cs typeface="Cambria"/>
              </a:rPr>
              <a:t>Insights</a:t>
            </a:r>
            <a:endParaRPr sz="2750">
              <a:latin typeface="Cambria"/>
              <a:cs typeface="Cambria"/>
            </a:endParaRPr>
          </a:p>
          <a:p>
            <a:pPr algn="just" marL="12700" marR="5080">
              <a:lnSpc>
                <a:spcPct val="133200"/>
              </a:lnSpc>
              <a:spcBef>
                <a:spcPts val="540"/>
              </a:spcBef>
            </a:pP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5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highest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exits,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male </a:t>
            </a:r>
            <a:r>
              <a:rPr dirty="0" sz="2300" spc="-195">
                <a:solidFill>
                  <a:srgbClr val="3A362F"/>
                </a:solidFill>
                <a:latin typeface="Trebuchet MS"/>
                <a:cs typeface="Trebuchet MS"/>
              </a:rPr>
              <a:t>vs.</a:t>
            </a:r>
            <a:r>
              <a:rPr dirty="0" sz="2300" spc="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5">
                <a:solidFill>
                  <a:srgbClr val="3A362F"/>
                </a:solidFill>
                <a:latin typeface="Trebuchet MS"/>
                <a:cs typeface="Trebuchet MS"/>
              </a:rPr>
              <a:t>female</a:t>
            </a:r>
            <a:r>
              <a:rPr dirty="0" sz="2300" spc="-4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25">
                <a:solidFill>
                  <a:srgbClr val="3A362F"/>
                </a:solidFill>
                <a:latin typeface="Trebuchet MS"/>
                <a:cs typeface="Trebuchet MS"/>
              </a:rPr>
              <a:t>attrition,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performance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level</a:t>
            </a:r>
            <a:r>
              <a:rPr dirty="0" sz="2300" spc="-21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impact.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2042276" y="2029273"/>
            <a:ext cx="5198745" cy="3851275"/>
            <a:chOff x="12042276" y="2029273"/>
            <a:chExt cx="5198745" cy="3851275"/>
          </a:xfrm>
        </p:grpSpPr>
        <p:sp>
          <p:nvSpPr>
            <p:cNvPr id="15" name="object 15" descr=""/>
            <p:cNvSpPr/>
            <p:nvPr/>
          </p:nvSpPr>
          <p:spPr>
            <a:xfrm>
              <a:off x="12042276" y="2029273"/>
              <a:ext cx="5198745" cy="3851275"/>
            </a:xfrm>
            <a:custGeom>
              <a:avLst/>
              <a:gdLst/>
              <a:ahLst/>
              <a:cxnLst/>
              <a:rect l="l" t="t" r="r" b="b"/>
              <a:pathLst>
                <a:path w="5198744" h="3851275">
                  <a:moveTo>
                    <a:pt x="5153690" y="3850766"/>
                  </a:moveTo>
                  <a:lnTo>
                    <a:pt x="44862" y="3850766"/>
                  </a:lnTo>
                  <a:lnTo>
                    <a:pt x="27405" y="3847239"/>
                  </a:lnTo>
                  <a:lnTo>
                    <a:pt x="13144" y="3837621"/>
                  </a:lnTo>
                  <a:lnTo>
                    <a:pt x="3527" y="3823361"/>
                  </a:lnTo>
                  <a:lnTo>
                    <a:pt x="0" y="380590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5153690" y="0"/>
                  </a:lnTo>
                  <a:lnTo>
                    <a:pt x="5171148" y="3527"/>
                  </a:lnTo>
                  <a:lnTo>
                    <a:pt x="5185408" y="13144"/>
                  </a:lnTo>
                  <a:lnTo>
                    <a:pt x="5195025" y="27405"/>
                  </a:lnTo>
                  <a:lnTo>
                    <a:pt x="5198553" y="44862"/>
                  </a:lnTo>
                  <a:lnTo>
                    <a:pt x="5198553" y="3805903"/>
                  </a:lnTo>
                  <a:lnTo>
                    <a:pt x="5195025" y="3823361"/>
                  </a:lnTo>
                  <a:lnTo>
                    <a:pt x="5185408" y="3837621"/>
                  </a:lnTo>
                  <a:lnTo>
                    <a:pt x="5171148" y="3847239"/>
                  </a:lnTo>
                  <a:lnTo>
                    <a:pt x="5153690" y="385076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341427" y="2328415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2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2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8" y="399920"/>
                  </a:lnTo>
                  <a:lnTo>
                    <a:pt x="897540" y="448817"/>
                  </a:lnTo>
                  <a:lnTo>
                    <a:pt x="894908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2"/>
                  </a:lnTo>
                  <a:lnTo>
                    <a:pt x="749472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2591481" y="2592589"/>
              <a:ext cx="393700" cy="366395"/>
            </a:xfrm>
            <a:custGeom>
              <a:avLst/>
              <a:gdLst/>
              <a:ahLst/>
              <a:cxnLst/>
              <a:rect l="l" t="t" r="r" b="b"/>
              <a:pathLst>
                <a:path w="393700" h="366394">
                  <a:moveTo>
                    <a:pt x="246637" y="58739"/>
                  </a:moveTo>
                  <a:lnTo>
                    <a:pt x="233249" y="58564"/>
                  </a:lnTo>
                  <a:lnTo>
                    <a:pt x="221376" y="58666"/>
                  </a:lnTo>
                  <a:lnTo>
                    <a:pt x="212289" y="59061"/>
                  </a:lnTo>
                  <a:lnTo>
                    <a:pt x="207258" y="59765"/>
                  </a:lnTo>
                  <a:lnTo>
                    <a:pt x="206189" y="60582"/>
                  </a:lnTo>
                  <a:lnTo>
                    <a:pt x="204414" y="62438"/>
                  </a:lnTo>
                  <a:lnTo>
                    <a:pt x="201931" y="65334"/>
                  </a:lnTo>
                </a:path>
                <a:path w="393700" h="366394">
                  <a:moveTo>
                    <a:pt x="250269" y="107053"/>
                  </a:moveTo>
                  <a:lnTo>
                    <a:pt x="245934" y="109622"/>
                  </a:lnTo>
                  <a:lnTo>
                    <a:pt x="242296" y="110811"/>
                  </a:lnTo>
                  <a:lnTo>
                    <a:pt x="240265" y="111034"/>
                  </a:lnTo>
                  <a:lnTo>
                    <a:pt x="223533" y="110851"/>
                  </a:lnTo>
                  <a:lnTo>
                    <a:pt x="201968" y="79821"/>
                  </a:lnTo>
                  <a:lnTo>
                    <a:pt x="201931" y="65334"/>
                  </a:lnTo>
                </a:path>
                <a:path w="393700" h="366394">
                  <a:moveTo>
                    <a:pt x="340776" y="110723"/>
                  </a:moveTo>
                  <a:lnTo>
                    <a:pt x="344125" y="105586"/>
                  </a:lnTo>
                  <a:lnTo>
                    <a:pt x="344949" y="103458"/>
                  </a:lnTo>
                  <a:lnTo>
                    <a:pt x="345550" y="99249"/>
                  </a:lnTo>
                  <a:lnTo>
                    <a:pt x="345420" y="81342"/>
                  </a:lnTo>
                  <a:lnTo>
                    <a:pt x="321964" y="58637"/>
                  </a:lnTo>
                  <a:lnTo>
                    <a:pt x="310127" y="58823"/>
                  </a:lnTo>
                  <a:lnTo>
                    <a:pt x="301373" y="59289"/>
                  </a:lnTo>
                </a:path>
                <a:path w="393700" h="366394">
                  <a:moveTo>
                    <a:pt x="340776" y="110723"/>
                  </a:moveTo>
                  <a:lnTo>
                    <a:pt x="301217" y="108537"/>
                  </a:lnTo>
                  <a:lnTo>
                    <a:pt x="297354" y="80370"/>
                  </a:lnTo>
                  <a:lnTo>
                    <a:pt x="297333" y="65294"/>
                  </a:lnTo>
                </a:path>
                <a:path w="393700" h="366394">
                  <a:moveTo>
                    <a:pt x="95480" y="207674"/>
                  </a:moveTo>
                  <a:lnTo>
                    <a:pt x="97362" y="203946"/>
                  </a:lnTo>
                  <a:lnTo>
                    <a:pt x="98695" y="197683"/>
                  </a:lnTo>
                  <a:lnTo>
                    <a:pt x="99507" y="186070"/>
                  </a:lnTo>
                  <a:lnTo>
                    <a:pt x="99824" y="166291"/>
                  </a:lnTo>
                  <a:lnTo>
                    <a:pt x="99104" y="162954"/>
                  </a:lnTo>
                  <a:lnTo>
                    <a:pt x="98324" y="161190"/>
                  </a:lnTo>
                  <a:lnTo>
                    <a:pt x="96418" y="158802"/>
                  </a:lnTo>
                  <a:lnTo>
                    <a:pt x="94918" y="157957"/>
                  </a:lnTo>
                  <a:lnTo>
                    <a:pt x="92943" y="157263"/>
                  </a:lnTo>
                  <a:lnTo>
                    <a:pt x="90494" y="156720"/>
                  </a:lnTo>
                </a:path>
                <a:path w="393700" h="366394">
                  <a:moveTo>
                    <a:pt x="60762" y="156773"/>
                  </a:moveTo>
                  <a:lnTo>
                    <a:pt x="58710" y="157075"/>
                  </a:lnTo>
                  <a:lnTo>
                    <a:pt x="55958" y="157905"/>
                  </a:lnTo>
                  <a:lnTo>
                    <a:pt x="52505" y="159264"/>
                  </a:lnTo>
                </a:path>
                <a:path w="393700" h="366394">
                  <a:moveTo>
                    <a:pt x="60937" y="207749"/>
                  </a:moveTo>
                  <a:lnTo>
                    <a:pt x="51106" y="166161"/>
                  </a:lnTo>
                  <a:lnTo>
                    <a:pt x="52505" y="159264"/>
                  </a:lnTo>
                </a:path>
                <a:path w="393700" h="366394">
                  <a:moveTo>
                    <a:pt x="247879" y="207377"/>
                  </a:moveTo>
                  <a:lnTo>
                    <a:pt x="250064" y="202235"/>
                  </a:lnTo>
                  <a:lnTo>
                    <a:pt x="250907" y="198565"/>
                  </a:lnTo>
                  <a:lnTo>
                    <a:pt x="251061" y="196488"/>
                  </a:lnTo>
                  <a:lnTo>
                    <a:pt x="250940" y="178903"/>
                  </a:lnTo>
                  <a:lnTo>
                    <a:pt x="227472" y="156876"/>
                  </a:lnTo>
                  <a:lnTo>
                    <a:pt x="210240" y="156933"/>
                  </a:lnTo>
                  <a:lnTo>
                    <a:pt x="208813" y="157252"/>
                  </a:lnTo>
                  <a:lnTo>
                    <a:pt x="206048" y="158215"/>
                  </a:lnTo>
                  <a:lnTo>
                    <a:pt x="201944" y="159822"/>
                  </a:lnTo>
                </a:path>
                <a:path w="393700" h="366394">
                  <a:moveTo>
                    <a:pt x="343892" y="157685"/>
                  </a:moveTo>
                  <a:lnTo>
                    <a:pt x="333838" y="157173"/>
                  </a:lnTo>
                  <a:lnTo>
                    <a:pt x="321393" y="157013"/>
                  </a:lnTo>
                  <a:lnTo>
                    <a:pt x="309967" y="157213"/>
                  </a:lnTo>
                  <a:lnTo>
                    <a:pt x="302967" y="157778"/>
                  </a:lnTo>
                  <a:lnTo>
                    <a:pt x="298271" y="160032"/>
                  </a:lnTo>
                </a:path>
                <a:path w="393700" h="366394">
                  <a:moveTo>
                    <a:pt x="343892" y="157685"/>
                  </a:moveTo>
                  <a:lnTo>
                    <a:pt x="344745" y="163033"/>
                  </a:lnTo>
                  <a:lnTo>
                    <a:pt x="345251" y="169493"/>
                  </a:lnTo>
                  <a:lnTo>
                    <a:pt x="345487" y="179744"/>
                  </a:lnTo>
                  <a:lnTo>
                    <a:pt x="345531" y="196468"/>
                  </a:lnTo>
                  <a:lnTo>
                    <a:pt x="345359" y="198537"/>
                  </a:lnTo>
                  <a:lnTo>
                    <a:pt x="344449" y="202277"/>
                  </a:lnTo>
                  <a:lnTo>
                    <a:pt x="342152" y="207493"/>
                  </a:lnTo>
                </a:path>
                <a:path w="393700" h="366394">
                  <a:moveTo>
                    <a:pt x="53427" y="300865"/>
                  </a:moveTo>
                  <a:lnTo>
                    <a:pt x="52644" y="297856"/>
                  </a:lnTo>
                  <a:lnTo>
                    <a:pt x="52068" y="292133"/>
                  </a:lnTo>
                  <a:lnTo>
                    <a:pt x="51717" y="281732"/>
                  </a:lnTo>
                  <a:lnTo>
                    <a:pt x="51608" y="264692"/>
                  </a:lnTo>
                  <a:lnTo>
                    <a:pt x="51890" y="261993"/>
                  </a:lnTo>
                  <a:lnTo>
                    <a:pt x="61866" y="254029"/>
                  </a:lnTo>
                  <a:lnTo>
                    <a:pt x="79760" y="254387"/>
                  </a:lnTo>
                  <a:lnTo>
                    <a:pt x="99472" y="260912"/>
                  </a:lnTo>
                  <a:lnTo>
                    <a:pt x="100011" y="263384"/>
                  </a:lnTo>
                </a:path>
                <a:path w="393700" h="366394">
                  <a:moveTo>
                    <a:pt x="99953" y="295321"/>
                  </a:moveTo>
                  <a:lnTo>
                    <a:pt x="76373" y="304464"/>
                  </a:lnTo>
                  <a:lnTo>
                    <a:pt x="63942" y="304271"/>
                  </a:lnTo>
                  <a:lnTo>
                    <a:pt x="54815" y="303621"/>
                  </a:lnTo>
                </a:path>
                <a:path w="393700" h="366394">
                  <a:moveTo>
                    <a:pt x="205519" y="256067"/>
                  </a:moveTo>
                  <a:lnTo>
                    <a:pt x="203274" y="259434"/>
                  </a:lnTo>
                  <a:lnTo>
                    <a:pt x="202087" y="262991"/>
                  </a:lnTo>
                  <a:lnTo>
                    <a:pt x="201925" y="264359"/>
                  </a:lnTo>
                  <a:lnTo>
                    <a:pt x="202124" y="283397"/>
                  </a:lnTo>
                  <a:lnTo>
                    <a:pt x="208830" y="304263"/>
                  </a:lnTo>
                  <a:lnTo>
                    <a:pt x="211270" y="304860"/>
                  </a:lnTo>
                </a:path>
                <a:path w="393700" h="366394">
                  <a:moveTo>
                    <a:pt x="241230" y="304828"/>
                  </a:moveTo>
                  <a:lnTo>
                    <a:pt x="251287" y="289456"/>
                  </a:lnTo>
                  <a:lnTo>
                    <a:pt x="251277" y="279073"/>
                  </a:lnTo>
                  <a:lnTo>
                    <a:pt x="246038" y="255238"/>
                  </a:lnTo>
                  <a:lnTo>
                    <a:pt x="242336" y="254124"/>
                  </a:lnTo>
                </a:path>
                <a:path w="393700" h="366394">
                  <a:moveTo>
                    <a:pt x="345536" y="299080"/>
                  </a:moveTo>
                  <a:lnTo>
                    <a:pt x="342396" y="302364"/>
                  </a:lnTo>
                  <a:lnTo>
                    <a:pt x="340842" y="303361"/>
                  </a:lnTo>
                  <a:lnTo>
                    <a:pt x="337057" y="304635"/>
                  </a:lnTo>
                  <a:lnTo>
                    <a:pt x="331136" y="304766"/>
                  </a:lnTo>
                  <a:lnTo>
                    <a:pt x="320593" y="304732"/>
                  </a:lnTo>
                  <a:lnTo>
                    <a:pt x="297872" y="298155"/>
                  </a:lnTo>
                  <a:lnTo>
                    <a:pt x="297277" y="295252"/>
                  </a:lnTo>
                </a:path>
                <a:path w="393700" h="366394">
                  <a:moveTo>
                    <a:pt x="297290" y="263453"/>
                  </a:moveTo>
                  <a:lnTo>
                    <a:pt x="320986" y="254663"/>
                  </a:lnTo>
                  <a:lnTo>
                    <a:pt x="333179" y="254680"/>
                  </a:lnTo>
                  <a:lnTo>
                    <a:pt x="340002" y="255132"/>
                  </a:lnTo>
                  <a:lnTo>
                    <a:pt x="345032" y="258145"/>
                  </a:lnTo>
                </a:path>
                <a:path w="393700" h="366394">
                  <a:moveTo>
                    <a:pt x="195365" y="365107"/>
                  </a:moveTo>
                  <a:lnTo>
                    <a:pt x="159288" y="348768"/>
                  </a:lnTo>
                  <a:lnTo>
                    <a:pt x="152136" y="324931"/>
                  </a:lnTo>
                  <a:lnTo>
                    <a:pt x="151998" y="316293"/>
                  </a:lnTo>
                </a:path>
                <a:path w="393700" h="366394">
                  <a:moveTo>
                    <a:pt x="152063" y="40507"/>
                  </a:moveTo>
                  <a:lnTo>
                    <a:pt x="170541" y="6343"/>
                  </a:lnTo>
                  <a:lnTo>
                    <a:pt x="194703" y="23"/>
                  </a:lnTo>
                  <a:lnTo>
                    <a:pt x="218543" y="21"/>
                  </a:lnTo>
                </a:path>
                <a:path w="393700" h="366394">
                  <a:moveTo>
                    <a:pt x="347676" y="0"/>
                  </a:moveTo>
                  <a:lnTo>
                    <a:pt x="384834" y="15402"/>
                  </a:lnTo>
                  <a:lnTo>
                    <a:pt x="393669" y="38909"/>
                  </a:lnTo>
                  <a:lnTo>
                    <a:pt x="393650" y="54801"/>
                  </a:lnTo>
                  <a:lnTo>
                    <a:pt x="393637" y="84546"/>
                  </a:lnTo>
                </a:path>
                <a:path w="393700" h="366394">
                  <a:moveTo>
                    <a:pt x="393701" y="150895"/>
                  </a:moveTo>
                  <a:lnTo>
                    <a:pt x="393615" y="180715"/>
                  </a:lnTo>
                </a:path>
                <a:path w="393700" h="366394">
                  <a:moveTo>
                    <a:pt x="393643" y="303689"/>
                  </a:moveTo>
                  <a:lnTo>
                    <a:pt x="387869" y="346401"/>
                  </a:lnTo>
                  <a:lnTo>
                    <a:pt x="386467" y="348307"/>
                  </a:lnTo>
                </a:path>
                <a:path w="393700" h="366394">
                  <a:moveTo>
                    <a:pt x="36823" y="104617"/>
                  </a:moveTo>
                  <a:lnTo>
                    <a:pt x="3591" y="123592"/>
                  </a:lnTo>
                  <a:lnTo>
                    <a:pt x="0" y="138363"/>
                  </a:lnTo>
                  <a:lnTo>
                    <a:pt x="18" y="150292"/>
                  </a:lnTo>
                </a:path>
                <a:path w="393700" h="366394">
                  <a:moveTo>
                    <a:pt x="386565" y="348382"/>
                  </a:moveTo>
                  <a:lnTo>
                    <a:pt x="381845" y="354538"/>
                  </a:lnTo>
                  <a:lnTo>
                    <a:pt x="375892" y="359084"/>
                  </a:lnTo>
                  <a:lnTo>
                    <a:pt x="368706" y="362018"/>
                  </a:lnTo>
                  <a:lnTo>
                    <a:pt x="361520" y="364952"/>
                  </a:lnTo>
                  <a:lnTo>
                    <a:pt x="354083" y="365874"/>
                  </a:lnTo>
                  <a:lnTo>
                    <a:pt x="346397" y="364784"/>
                  </a:lnTo>
                </a:path>
                <a:path w="393700" h="366394">
                  <a:moveTo>
                    <a:pt x="250987" y="64800"/>
                  </a:moveTo>
                  <a:lnTo>
                    <a:pt x="246637" y="58739"/>
                  </a:lnTo>
                </a:path>
                <a:path w="393700" h="366394">
                  <a:moveTo>
                    <a:pt x="250987" y="64800"/>
                  </a:moveTo>
                  <a:lnTo>
                    <a:pt x="250269" y="107053"/>
                  </a:lnTo>
                </a:path>
                <a:path w="393700" h="366394">
                  <a:moveTo>
                    <a:pt x="301373" y="59289"/>
                  </a:moveTo>
                  <a:lnTo>
                    <a:pt x="297333" y="65294"/>
                  </a:lnTo>
                </a:path>
                <a:path w="393700" h="366394">
                  <a:moveTo>
                    <a:pt x="120487" y="104643"/>
                  </a:moveTo>
                  <a:lnTo>
                    <a:pt x="36823" y="104617"/>
                  </a:lnTo>
                </a:path>
                <a:path w="393700" h="366394">
                  <a:moveTo>
                    <a:pt x="90494" y="156720"/>
                  </a:moveTo>
                  <a:lnTo>
                    <a:pt x="60762" y="156773"/>
                  </a:lnTo>
                </a:path>
                <a:path w="393700" h="366394">
                  <a:moveTo>
                    <a:pt x="95480" y="207674"/>
                  </a:moveTo>
                  <a:lnTo>
                    <a:pt x="60937" y="207749"/>
                  </a:lnTo>
                </a:path>
                <a:path w="393700" h="366394">
                  <a:moveTo>
                    <a:pt x="247879" y="207377"/>
                  </a:moveTo>
                  <a:lnTo>
                    <a:pt x="204005" y="207147"/>
                  </a:lnTo>
                  <a:lnTo>
                    <a:pt x="201944" y="159822"/>
                  </a:lnTo>
                </a:path>
                <a:path w="393700" h="366394">
                  <a:moveTo>
                    <a:pt x="100011" y="263384"/>
                  </a:moveTo>
                  <a:lnTo>
                    <a:pt x="99953" y="295321"/>
                  </a:lnTo>
                </a:path>
                <a:path w="393700" h="366394">
                  <a:moveTo>
                    <a:pt x="211270" y="304860"/>
                  </a:moveTo>
                  <a:lnTo>
                    <a:pt x="241230" y="304828"/>
                  </a:lnTo>
                </a:path>
                <a:path w="393700" h="366394">
                  <a:moveTo>
                    <a:pt x="242336" y="254124"/>
                  </a:moveTo>
                  <a:lnTo>
                    <a:pt x="207123" y="254338"/>
                  </a:lnTo>
                </a:path>
                <a:path w="393700" h="366394">
                  <a:moveTo>
                    <a:pt x="342152" y="207493"/>
                  </a:moveTo>
                  <a:lnTo>
                    <a:pt x="300332" y="207241"/>
                  </a:lnTo>
                  <a:lnTo>
                    <a:pt x="298271" y="160032"/>
                  </a:lnTo>
                </a:path>
                <a:path w="393700" h="366394">
                  <a:moveTo>
                    <a:pt x="297277" y="295252"/>
                  </a:moveTo>
                  <a:lnTo>
                    <a:pt x="297290" y="263453"/>
                  </a:lnTo>
                </a:path>
                <a:path w="393700" h="366394">
                  <a:moveTo>
                    <a:pt x="393637" y="84546"/>
                  </a:moveTo>
                  <a:lnTo>
                    <a:pt x="393701" y="150895"/>
                  </a:lnTo>
                </a:path>
                <a:path w="393700" h="366394">
                  <a:moveTo>
                    <a:pt x="53427" y="300865"/>
                  </a:moveTo>
                  <a:lnTo>
                    <a:pt x="54815" y="303621"/>
                  </a:lnTo>
                </a:path>
                <a:path w="393700" h="366394">
                  <a:moveTo>
                    <a:pt x="393615" y="180715"/>
                  </a:moveTo>
                  <a:lnTo>
                    <a:pt x="393643" y="303689"/>
                  </a:lnTo>
                </a:path>
                <a:path w="393700" h="366394">
                  <a:moveTo>
                    <a:pt x="205519" y="256067"/>
                  </a:moveTo>
                  <a:lnTo>
                    <a:pt x="207123" y="254338"/>
                  </a:lnTo>
                </a:path>
                <a:path w="393700" h="366394">
                  <a:moveTo>
                    <a:pt x="345536" y="299080"/>
                  </a:moveTo>
                  <a:lnTo>
                    <a:pt x="345032" y="258145"/>
                  </a:lnTo>
                </a:path>
                <a:path w="393700" h="366394">
                  <a:moveTo>
                    <a:pt x="346351" y="365104"/>
                  </a:moveTo>
                  <a:lnTo>
                    <a:pt x="195365" y="365107"/>
                  </a:lnTo>
                </a:path>
                <a:path w="393700" h="366394">
                  <a:moveTo>
                    <a:pt x="151998" y="316293"/>
                  </a:moveTo>
                  <a:lnTo>
                    <a:pt x="152063" y="40507"/>
                  </a:lnTo>
                </a:path>
                <a:path w="393700" h="366394">
                  <a:moveTo>
                    <a:pt x="218543" y="21"/>
                  </a:moveTo>
                  <a:lnTo>
                    <a:pt x="347676" y="0"/>
                  </a:lnTo>
                </a:path>
              </a:pathLst>
            </a:custGeom>
            <a:ln w="17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2778" y="2742882"/>
              <a:ext cx="129190" cy="22131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2328727" y="3269469"/>
            <a:ext cx="4441825" cy="1666239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750" spc="110">
                <a:solidFill>
                  <a:srgbClr val="3A362F"/>
                </a:solidFill>
                <a:latin typeface="Cambria"/>
                <a:cs typeface="Cambria"/>
              </a:rPr>
              <a:t>Workforce</a:t>
            </a:r>
            <a:r>
              <a:rPr dirty="0" sz="2750" spc="14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2750" spc="80">
                <a:solidFill>
                  <a:srgbClr val="3A362F"/>
                </a:solidFill>
                <a:latin typeface="Cambria"/>
                <a:cs typeface="Cambria"/>
              </a:rPr>
              <a:t>Details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Identifies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high-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risk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roles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dirty="0" sz="2300" spc="-55">
                <a:solidFill>
                  <a:srgbClr val="3A362F"/>
                </a:solidFill>
                <a:latin typeface="Trebuchet MS"/>
                <a:cs typeface="Trebuchet MS"/>
              </a:rPr>
              <a:t>locations</a:t>
            </a:r>
            <a:r>
              <a:rPr dirty="0" sz="2300" spc="-18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more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18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exits.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47159" y="6179191"/>
            <a:ext cx="16193769" cy="3231515"/>
            <a:chOff x="1047159" y="6179191"/>
            <a:chExt cx="16193769" cy="3231515"/>
          </a:xfrm>
        </p:grpSpPr>
        <p:sp>
          <p:nvSpPr>
            <p:cNvPr id="21" name="object 21" descr=""/>
            <p:cNvSpPr/>
            <p:nvPr/>
          </p:nvSpPr>
          <p:spPr>
            <a:xfrm>
              <a:off x="1047159" y="6179191"/>
              <a:ext cx="16193769" cy="3231515"/>
            </a:xfrm>
            <a:custGeom>
              <a:avLst/>
              <a:gdLst/>
              <a:ahLst/>
              <a:cxnLst/>
              <a:rect l="l" t="t" r="r" b="b"/>
              <a:pathLst>
                <a:path w="16193769" h="3231515">
                  <a:moveTo>
                    <a:pt x="16148780" y="3231356"/>
                  </a:moveTo>
                  <a:lnTo>
                    <a:pt x="44862" y="3231356"/>
                  </a:lnTo>
                  <a:lnTo>
                    <a:pt x="27405" y="3227829"/>
                  </a:lnTo>
                  <a:lnTo>
                    <a:pt x="13144" y="3218212"/>
                  </a:lnTo>
                  <a:lnTo>
                    <a:pt x="3527" y="3203951"/>
                  </a:lnTo>
                  <a:lnTo>
                    <a:pt x="0" y="318649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16148780" y="0"/>
                  </a:lnTo>
                  <a:lnTo>
                    <a:pt x="16166238" y="3527"/>
                  </a:lnTo>
                  <a:lnTo>
                    <a:pt x="16180499" y="13144"/>
                  </a:lnTo>
                  <a:lnTo>
                    <a:pt x="16190116" y="27405"/>
                  </a:lnTo>
                  <a:lnTo>
                    <a:pt x="16193643" y="44862"/>
                  </a:lnTo>
                  <a:lnTo>
                    <a:pt x="16193643" y="3186493"/>
                  </a:lnTo>
                  <a:lnTo>
                    <a:pt x="16190116" y="3203951"/>
                  </a:lnTo>
                  <a:lnTo>
                    <a:pt x="16180499" y="3218212"/>
                  </a:lnTo>
                  <a:lnTo>
                    <a:pt x="16166238" y="3227829"/>
                  </a:lnTo>
                  <a:lnTo>
                    <a:pt x="16148780" y="323135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46301" y="6478343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89" h="897890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1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1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7" y="399920"/>
                  </a:lnTo>
                  <a:lnTo>
                    <a:pt x="897540" y="448817"/>
                  </a:lnTo>
                  <a:lnTo>
                    <a:pt x="894907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1"/>
                  </a:lnTo>
                  <a:lnTo>
                    <a:pt x="749471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2190" y="6734509"/>
              <a:ext cx="402047" cy="38050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333601" y="7506782"/>
            <a:ext cx="14963140" cy="1425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33200"/>
              </a:lnSpc>
              <a:spcBef>
                <a:spcPts val="95"/>
              </a:spcBef>
            </a:pPr>
            <a:r>
              <a:rPr dirty="0" sz="2300" spc="-75" b="1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100" b="1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295" b="1">
                <a:solidFill>
                  <a:srgbClr val="3A362F"/>
                </a:solidFill>
                <a:latin typeface="Trebuchet MS"/>
                <a:cs typeface="Trebuchet MS"/>
              </a:rPr>
              <a:t>S</a:t>
            </a:r>
            <a:r>
              <a:rPr dirty="0" sz="2300" spc="-120" b="1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45" b="1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dirty="0" sz="2300" spc="-65" b="1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35" b="1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Examines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dirty="0" sz="2300" spc="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relationship </a:t>
            </a:r>
            <a:r>
              <a:rPr dirty="0" sz="2300" spc="-110">
                <a:solidFill>
                  <a:srgbClr val="3A362F"/>
                </a:solidFill>
                <a:latin typeface="Trebuchet MS"/>
                <a:cs typeface="Trebuchet MS"/>
              </a:rPr>
              <a:t>between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scores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engagement </a:t>
            </a:r>
            <a:r>
              <a:rPr dirty="0" sz="2300" spc="-105">
                <a:solidFill>
                  <a:srgbClr val="3A362F"/>
                </a:solidFill>
                <a:latin typeface="Trebuchet MS"/>
                <a:cs typeface="Trebuchet MS"/>
              </a:rPr>
              <a:t>levels</a:t>
            </a:r>
            <a:r>
              <a:rPr dirty="0" sz="2300" spc="-7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9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2300" spc="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14">
                <a:solidFill>
                  <a:srgbClr val="3A362F"/>
                </a:solidFill>
                <a:latin typeface="Trebuchet MS"/>
                <a:cs typeface="Trebuchet MS"/>
              </a:rPr>
              <a:t>identify</a:t>
            </a:r>
            <a:r>
              <a:rPr dirty="0" sz="2300" spc="-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productivity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3A362F"/>
                </a:solidFill>
                <a:latin typeface="Trebuchet MS"/>
                <a:cs typeface="Trebuchet MS"/>
              </a:rPr>
              <a:t>gaps,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3A362F"/>
                </a:solidFill>
                <a:latin typeface="Trebuchet MS"/>
                <a:cs typeface="Trebuchet MS"/>
              </a:rPr>
              <a:t>disengaged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3A362F"/>
                </a:solidFill>
                <a:latin typeface="Trebuchet MS"/>
                <a:cs typeface="Trebuchet MS"/>
              </a:rPr>
              <a:t>segments,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3A362F"/>
                </a:solidFill>
                <a:latin typeface="Trebuchet MS"/>
                <a:cs typeface="Trebuchet MS"/>
              </a:rPr>
              <a:t>opportunities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75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dirty="0" sz="23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dirty="0" sz="2300" spc="-4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80">
                <a:solidFill>
                  <a:srgbClr val="3A362F"/>
                </a:solidFill>
                <a:latin typeface="Trebuchet MS"/>
                <a:cs typeface="Trebuchet MS"/>
              </a:rPr>
              <a:t>improvement</a:t>
            </a:r>
            <a:r>
              <a:rPr dirty="0" sz="2300" spc="-3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dirty="0" sz="2300" spc="-85">
                <a:solidFill>
                  <a:srgbClr val="3A362F"/>
                </a:solidFill>
                <a:latin typeface="Trebuchet MS"/>
                <a:cs typeface="Trebuchet MS"/>
              </a:rPr>
              <a:t>retention</a:t>
            </a:r>
            <a:r>
              <a:rPr dirty="0" sz="2300" spc="-16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A362F"/>
                </a:solidFill>
                <a:latin typeface="Trebuchet MS"/>
                <a:cs typeface="Trebuchet MS"/>
              </a:rPr>
              <a:t>strategies.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6970" y="768696"/>
            <a:ext cx="89179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85"/>
              <a:t>Business</a:t>
            </a:r>
            <a:r>
              <a:rPr dirty="0" sz="3000" spc="150"/>
              <a:t> </a:t>
            </a:r>
            <a:r>
              <a:rPr dirty="0" sz="3000" spc="120"/>
              <a:t>Recommendations:</a:t>
            </a:r>
            <a:r>
              <a:rPr dirty="0" sz="3000" spc="155"/>
              <a:t> </a:t>
            </a:r>
            <a:r>
              <a:rPr dirty="0" sz="3000" spc="100"/>
              <a:t>Actionable</a:t>
            </a:r>
            <a:r>
              <a:rPr dirty="0" sz="3000" spc="150"/>
              <a:t> </a:t>
            </a:r>
            <a:r>
              <a:rPr dirty="0" sz="3000" spc="105"/>
              <a:t>Strategies</a:t>
            </a:r>
            <a:endParaRPr sz="3000"/>
          </a:p>
        </p:txBody>
      </p:sp>
      <p:grpSp>
        <p:nvGrpSpPr>
          <p:cNvPr id="4" name="object 4" descr=""/>
          <p:cNvGrpSpPr/>
          <p:nvPr/>
        </p:nvGrpSpPr>
        <p:grpSpPr>
          <a:xfrm>
            <a:off x="7579670" y="1598857"/>
            <a:ext cx="9986645" cy="1816735"/>
            <a:chOff x="7579670" y="1598857"/>
            <a:chExt cx="9986645" cy="1816735"/>
          </a:xfrm>
        </p:grpSpPr>
        <p:sp>
          <p:nvSpPr>
            <p:cNvPr id="5" name="object 5" descr=""/>
            <p:cNvSpPr/>
            <p:nvPr/>
          </p:nvSpPr>
          <p:spPr>
            <a:xfrm>
              <a:off x="7579670" y="1908124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89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7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1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579664" y="1598865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57"/>
                  </a:moveTo>
                  <a:lnTo>
                    <a:pt x="9984232" y="299580"/>
                  </a:lnTo>
                  <a:lnTo>
                    <a:pt x="9977590" y="289737"/>
                  </a:lnTo>
                  <a:lnTo>
                    <a:pt x="9967747" y="283108"/>
                  </a:lnTo>
                  <a:lnTo>
                    <a:pt x="9955720" y="280682"/>
                  </a:lnTo>
                  <a:lnTo>
                    <a:pt x="5300523" y="280682"/>
                  </a:lnTo>
                  <a:lnTo>
                    <a:pt x="5299278" y="263652"/>
                  </a:lnTo>
                  <a:lnTo>
                    <a:pt x="5289550" y="220014"/>
                  </a:lnTo>
                  <a:lnTo>
                    <a:pt x="5273903" y="178943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52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52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43"/>
                  </a:lnTo>
                  <a:lnTo>
                    <a:pt x="4697082" y="220014"/>
                  </a:lnTo>
                  <a:lnTo>
                    <a:pt x="4687341" y="263652"/>
                  </a:lnTo>
                  <a:lnTo>
                    <a:pt x="4686084" y="280682"/>
                  </a:lnTo>
                  <a:lnTo>
                    <a:pt x="30962" y="280682"/>
                  </a:lnTo>
                  <a:lnTo>
                    <a:pt x="18884" y="283108"/>
                  </a:lnTo>
                  <a:lnTo>
                    <a:pt x="9055" y="289737"/>
                  </a:lnTo>
                  <a:lnTo>
                    <a:pt x="2425" y="299580"/>
                  </a:lnTo>
                  <a:lnTo>
                    <a:pt x="0" y="311645"/>
                  </a:lnTo>
                  <a:lnTo>
                    <a:pt x="0" y="364032"/>
                  </a:lnTo>
                  <a:lnTo>
                    <a:pt x="2425" y="376097"/>
                  </a:lnTo>
                  <a:lnTo>
                    <a:pt x="9055" y="385940"/>
                  </a:lnTo>
                  <a:lnTo>
                    <a:pt x="18884" y="392557"/>
                  </a:lnTo>
                  <a:lnTo>
                    <a:pt x="30962" y="394982"/>
                  </a:lnTo>
                  <a:lnTo>
                    <a:pt x="4696269" y="394982"/>
                  </a:lnTo>
                  <a:lnTo>
                    <a:pt x="4697107" y="398716"/>
                  </a:lnTo>
                  <a:lnTo>
                    <a:pt x="4712779" y="439788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61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61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88"/>
                  </a:lnTo>
                  <a:lnTo>
                    <a:pt x="5289537" y="398716"/>
                  </a:lnTo>
                  <a:lnTo>
                    <a:pt x="5290363" y="394982"/>
                  </a:lnTo>
                  <a:lnTo>
                    <a:pt x="9955720" y="394982"/>
                  </a:lnTo>
                  <a:lnTo>
                    <a:pt x="9967722" y="392557"/>
                  </a:lnTo>
                  <a:lnTo>
                    <a:pt x="9977577" y="385940"/>
                  </a:lnTo>
                  <a:lnTo>
                    <a:pt x="9984219" y="376097"/>
                  </a:lnTo>
                  <a:lnTo>
                    <a:pt x="9986518" y="364820"/>
                  </a:lnTo>
                  <a:lnTo>
                    <a:pt x="9986518" y="310857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801667" y="1714633"/>
            <a:ext cx="5093335" cy="1354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347980">
              <a:lnSpc>
                <a:spcPct val="100000"/>
              </a:lnSpc>
              <a:spcBef>
                <a:spcPts val="135"/>
              </a:spcBef>
            </a:pPr>
            <a:r>
              <a:rPr dirty="0" sz="1900" spc="-4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 spc="75">
                <a:solidFill>
                  <a:srgbClr val="3A362F"/>
                </a:solidFill>
                <a:latin typeface="Cambria"/>
                <a:cs typeface="Cambria"/>
              </a:rPr>
              <a:t>Improve</a:t>
            </a:r>
            <a:r>
              <a:rPr dirty="0" sz="1850" spc="8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850" spc="70">
                <a:solidFill>
                  <a:srgbClr val="3A362F"/>
                </a:solidFill>
                <a:latin typeface="Cambria"/>
                <a:cs typeface="Cambria"/>
              </a:rPr>
              <a:t>Retention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50" spc="-25">
                <a:solidFill>
                  <a:srgbClr val="3A362F"/>
                </a:solidFill>
                <a:latin typeface="Trebuchet MS"/>
                <a:cs typeface="Trebuchet MS"/>
              </a:rPr>
              <a:t>Focus</a:t>
            </a:r>
            <a:r>
              <a:rPr dirty="0" sz="155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3A362F"/>
                </a:solidFill>
                <a:latin typeface="Trebuchet MS"/>
                <a:cs typeface="Trebuchet MS"/>
              </a:rPr>
              <a:t>on</a:t>
            </a:r>
            <a:r>
              <a:rPr dirty="0" sz="155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40">
                <a:solidFill>
                  <a:srgbClr val="3A362F"/>
                </a:solidFill>
                <a:latin typeface="Trebuchet MS"/>
                <a:cs typeface="Trebuchet MS"/>
              </a:rPr>
              <a:t>high-</a:t>
            </a:r>
            <a:r>
              <a:rPr dirty="0" sz="1550" spc="-6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155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45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dirty="0" sz="155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55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dirty="0" sz="155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3A362F"/>
                </a:solidFill>
                <a:latin typeface="Trebuchet MS"/>
                <a:cs typeface="Trebuchet MS"/>
              </a:rPr>
              <a:t>targeted</a:t>
            </a:r>
            <a:r>
              <a:rPr dirty="0" sz="1550" spc="-114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25">
                <a:solidFill>
                  <a:srgbClr val="3A362F"/>
                </a:solidFill>
                <a:latin typeface="Trebuchet MS"/>
                <a:cs typeface="Trebuchet MS"/>
              </a:rPr>
              <a:t>strategies.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579670" y="3621290"/>
            <a:ext cx="9986645" cy="1816735"/>
            <a:chOff x="7579670" y="3621290"/>
            <a:chExt cx="9986645" cy="1816735"/>
          </a:xfrm>
        </p:grpSpPr>
        <p:sp>
          <p:nvSpPr>
            <p:cNvPr id="9" name="object 9" descr=""/>
            <p:cNvSpPr/>
            <p:nvPr/>
          </p:nvSpPr>
          <p:spPr>
            <a:xfrm>
              <a:off x="7579670" y="3930548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89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7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1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579664" y="3621302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45"/>
                  </a:moveTo>
                  <a:lnTo>
                    <a:pt x="9984232" y="299567"/>
                  </a:lnTo>
                  <a:lnTo>
                    <a:pt x="9977590" y="289725"/>
                  </a:lnTo>
                  <a:lnTo>
                    <a:pt x="9967747" y="283108"/>
                  </a:lnTo>
                  <a:lnTo>
                    <a:pt x="9955720" y="280670"/>
                  </a:lnTo>
                  <a:lnTo>
                    <a:pt x="5300523" y="280670"/>
                  </a:lnTo>
                  <a:lnTo>
                    <a:pt x="5299278" y="263639"/>
                  </a:lnTo>
                  <a:lnTo>
                    <a:pt x="5289550" y="220014"/>
                  </a:lnTo>
                  <a:lnTo>
                    <a:pt x="5273903" y="178930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40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40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30"/>
                  </a:lnTo>
                  <a:lnTo>
                    <a:pt x="4697082" y="220014"/>
                  </a:lnTo>
                  <a:lnTo>
                    <a:pt x="4687341" y="263639"/>
                  </a:lnTo>
                  <a:lnTo>
                    <a:pt x="4686084" y="280670"/>
                  </a:lnTo>
                  <a:lnTo>
                    <a:pt x="30962" y="280670"/>
                  </a:lnTo>
                  <a:lnTo>
                    <a:pt x="18884" y="283108"/>
                  </a:lnTo>
                  <a:lnTo>
                    <a:pt x="9055" y="289725"/>
                  </a:lnTo>
                  <a:lnTo>
                    <a:pt x="2425" y="299567"/>
                  </a:lnTo>
                  <a:lnTo>
                    <a:pt x="0" y="311632"/>
                  </a:lnTo>
                  <a:lnTo>
                    <a:pt x="0" y="364020"/>
                  </a:lnTo>
                  <a:lnTo>
                    <a:pt x="2425" y="376085"/>
                  </a:lnTo>
                  <a:lnTo>
                    <a:pt x="9055" y="385927"/>
                  </a:lnTo>
                  <a:lnTo>
                    <a:pt x="18884" y="392544"/>
                  </a:lnTo>
                  <a:lnTo>
                    <a:pt x="30962" y="394970"/>
                  </a:lnTo>
                  <a:lnTo>
                    <a:pt x="4696257" y="394970"/>
                  </a:lnTo>
                  <a:lnTo>
                    <a:pt x="4697107" y="398716"/>
                  </a:lnTo>
                  <a:lnTo>
                    <a:pt x="4712779" y="439775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48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48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75"/>
                  </a:lnTo>
                  <a:lnTo>
                    <a:pt x="5289537" y="398716"/>
                  </a:lnTo>
                  <a:lnTo>
                    <a:pt x="5290363" y="394970"/>
                  </a:lnTo>
                  <a:lnTo>
                    <a:pt x="9955720" y="394970"/>
                  </a:lnTo>
                  <a:lnTo>
                    <a:pt x="9967722" y="392544"/>
                  </a:lnTo>
                  <a:lnTo>
                    <a:pt x="9977577" y="385927"/>
                  </a:lnTo>
                  <a:lnTo>
                    <a:pt x="9984219" y="376085"/>
                  </a:lnTo>
                  <a:lnTo>
                    <a:pt x="9986518" y="364807"/>
                  </a:lnTo>
                  <a:lnTo>
                    <a:pt x="9986518" y="31084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801667" y="3737057"/>
            <a:ext cx="4963795" cy="1354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175895">
              <a:lnSpc>
                <a:spcPct val="100000"/>
              </a:lnSpc>
              <a:spcBef>
                <a:spcPts val="135"/>
              </a:spcBef>
            </a:pPr>
            <a:r>
              <a:rPr dirty="0" sz="1900" spc="-5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 spc="80">
                <a:solidFill>
                  <a:srgbClr val="3A362F"/>
                </a:solidFill>
                <a:latin typeface="Cambria"/>
                <a:cs typeface="Cambria"/>
              </a:rPr>
              <a:t>Boost</a:t>
            </a:r>
            <a:r>
              <a:rPr dirty="0" sz="1850" spc="10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850" spc="90">
                <a:solidFill>
                  <a:srgbClr val="3A362F"/>
                </a:solidFill>
                <a:latin typeface="Cambria"/>
                <a:cs typeface="Cambria"/>
              </a:rPr>
              <a:t>Engagement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50" spc="-35">
                <a:solidFill>
                  <a:srgbClr val="3A362F"/>
                </a:solidFill>
                <a:latin typeface="Trebuchet MS"/>
                <a:cs typeface="Trebuchet MS"/>
              </a:rPr>
              <a:t>Enhance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5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45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dirty="0" sz="1550" spc="-1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55">
                <a:solidFill>
                  <a:srgbClr val="3A362F"/>
                </a:solidFill>
                <a:latin typeface="Trebuchet MS"/>
                <a:cs typeface="Trebuchet MS"/>
              </a:rPr>
              <a:t>low-</a:t>
            </a:r>
            <a:r>
              <a:rPr dirty="0" sz="1550" spc="-45">
                <a:solidFill>
                  <a:srgbClr val="3A362F"/>
                </a:solidFill>
                <a:latin typeface="Trebuchet MS"/>
                <a:cs typeface="Trebuchet MS"/>
              </a:rPr>
              <a:t>performing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3A362F"/>
                </a:solidFill>
                <a:latin typeface="Trebuchet MS"/>
                <a:cs typeface="Trebuchet MS"/>
              </a:rPr>
              <a:t>groups.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579670" y="5643714"/>
            <a:ext cx="9986645" cy="1816735"/>
            <a:chOff x="7579670" y="5643714"/>
            <a:chExt cx="9986645" cy="1816735"/>
          </a:xfrm>
        </p:grpSpPr>
        <p:sp>
          <p:nvSpPr>
            <p:cNvPr id="13" name="object 13" descr=""/>
            <p:cNvSpPr/>
            <p:nvPr/>
          </p:nvSpPr>
          <p:spPr>
            <a:xfrm>
              <a:off x="7579670" y="5952972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90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8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2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2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79664" y="5643727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45"/>
                  </a:moveTo>
                  <a:lnTo>
                    <a:pt x="9984232" y="299567"/>
                  </a:lnTo>
                  <a:lnTo>
                    <a:pt x="9977590" y="289725"/>
                  </a:lnTo>
                  <a:lnTo>
                    <a:pt x="9967747" y="283108"/>
                  </a:lnTo>
                  <a:lnTo>
                    <a:pt x="9955720" y="280670"/>
                  </a:lnTo>
                  <a:lnTo>
                    <a:pt x="5300523" y="280670"/>
                  </a:lnTo>
                  <a:lnTo>
                    <a:pt x="5299278" y="263639"/>
                  </a:lnTo>
                  <a:lnTo>
                    <a:pt x="5289550" y="220014"/>
                  </a:lnTo>
                  <a:lnTo>
                    <a:pt x="5273903" y="178930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40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40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30"/>
                  </a:lnTo>
                  <a:lnTo>
                    <a:pt x="4697082" y="220014"/>
                  </a:lnTo>
                  <a:lnTo>
                    <a:pt x="4687341" y="263639"/>
                  </a:lnTo>
                  <a:lnTo>
                    <a:pt x="4686084" y="280670"/>
                  </a:lnTo>
                  <a:lnTo>
                    <a:pt x="30962" y="280670"/>
                  </a:lnTo>
                  <a:lnTo>
                    <a:pt x="18884" y="283108"/>
                  </a:lnTo>
                  <a:lnTo>
                    <a:pt x="9055" y="289725"/>
                  </a:lnTo>
                  <a:lnTo>
                    <a:pt x="2425" y="299567"/>
                  </a:lnTo>
                  <a:lnTo>
                    <a:pt x="0" y="311632"/>
                  </a:lnTo>
                  <a:lnTo>
                    <a:pt x="0" y="364020"/>
                  </a:lnTo>
                  <a:lnTo>
                    <a:pt x="2425" y="376085"/>
                  </a:lnTo>
                  <a:lnTo>
                    <a:pt x="9055" y="385927"/>
                  </a:lnTo>
                  <a:lnTo>
                    <a:pt x="18884" y="392544"/>
                  </a:lnTo>
                  <a:lnTo>
                    <a:pt x="30962" y="394970"/>
                  </a:lnTo>
                  <a:lnTo>
                    <a:pt x="4696257" y="394970"/>
                  </a:lnTo>
                  <a:lnTo>
                    <a:pt x="4697107" y="398716"/>
                  </a:lnTo>
                  <a:lnTo>
                    <a:pt x="4712779" y="439775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48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48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75"/>
                  </a:lnTo>
                  <a:lnTo>
                    <a:pt x="5289537" y="398716"/>
                  </a:lnTo>
                  <a:lnTo>
                    <a:pt x="5290363" y="394970"/>
                  </a:lnTo>
                  <a:lnTo>
                    <a:pt x="9955720" y="394970"/>
                  </a:lnTo>
                  <a:lnTo>
                    <a:pt x="9967722" y="392544"/>
                  </a:lnTo>
                  <a:lnTo>
                    <a:pt x="9977577" y="385927"/>
                  </a:lnTo>
                  <a:lnTo>
                    <a:pt x="9984219" y="376085"/>
                  </a:lnTo>
                  <a:lnTo>
                    <a:pt x="9986518" y="364807"/>
                  </a:lnTo>
                  <a:lnTo>
                    <a:pt x="9986518" y="31084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801667" y="5759481"/>
            <a:ext cx="4834890" cy="1354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41910">
              <a:lnSpc>
                <a:spcPct val="100000"/>
              </a:lnSpc>
              <a:spcBef>
                <a:spcPts val="135"/>
              </a:spcBef>
            </a:pPr>
            <a:r>
              <a:rPr dirty="0" sz="1900" spc="-5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 spc="100">
                <a:solidFill>
                  <a:srgbClr val="3A362F"/>
                </a:solidFill>
                <a:latin typeface="Cambria"/>
                <a:cs typeface="Cambria"/>
              </a:rPr>
              <a:t>Strengthen</a:t>
            </a:r>
            <a:r>
              <a:rPr dirty="0" sz="1850" spc="9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850" spc="50">
                <a:solidFill>
                  <a:srgbClr val="3A362F"/>
                </a:solidFill>
                <a:latin typeface="Cambria"/>
                <a:cs typeface="Cambria"/>
              </a:rPr>
              <a:t>Early</a:t>
            </a:r>
            <a:r>
              <a:rPr dirty="0" sz="1850" spc="95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850" spc="80">
                <a:solidFill>
                  <a:srgbClr val="3A362F"/>
                </a:solidFill>
                <a:latin typeface="Cambria"/>
                <a:cs typeface="Cambria"/>
              </a:rPr>
              <a:t>Tenure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50" spc="-50">
                <a:solidFill>
                  <a:srgbClr val="3A362F"/>
                </a:solidFill>
                <a:latin typeface="Trebuchet MS"/>
                <a:cs typeface="Trebuchet MS"/>
              </a:rPr>
              <a:t>Implement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30">
                <a:solidFill>
                  <a:srgbClr val="3A362F"/>
                </a:solidFill>
                <a:latin typeface="Trebuchet MS"/>
                <a:cs typeface="Trebuchet MS"/>
              </a:rPr>
              <a:t>robust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3A362F"/>
                </a:solidFill>
                <a:latin typeface="Trebuchet MS"/>
                <a:cs typeface="Trebuchet MS"/>
              </a:rPr>
              <a:t>retention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25">
                <a:solidFill>
                  <a:srgbClr val="3A362F"/>
                </a:solidFill>
                <a:latin typeface="Trebuchet MS"/>
                <a:cs typeface="Trebuchet MS"/>
              </a:rPr>
              <a:t>programs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50">
                <a:solidFill>
                  <a:srgbClr val="3A362F"/>
                </a:solidFill>
                <a:latin typeface="Trebuchet MS"/>
                <a:cs typeface="Trebuchet MS"/>
              </a:rPr>
              <a:t>new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3A362F"/>
                </a:solidFill>
                <a:latin typeface="Trebuchet MS"/>
                <a:cs typeface="Trebuchet MS"/>
              </a:rPr>
              <a:t>employees.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579670" y="7666139"/>
            <a:ext cx="9986645" cy="1816735"/>
            <a:chOff x="7579670" y="7666139"/>
            <a:chExt cx="9986645" cy="1816735"/>
          </a:xfrm>
        </p:grpSpPr>
        <p:sp>
          <p:nvSpPr>
            <p:cNvPr id="17" name="object 17" descr=""/>
            <p:cNvSpPr/>
            <p:nvPr/>
          </p:nvSpPr>
          <p:spPr>
            <a:xfrm>
              <a:off x="7579670" y="7975396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90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8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1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579664" y="7666151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45"/>
                  </a:moveTo>
                  <a:lnTo>
                    <a:pt x="9984232" y="299567"/>
                  </a:lnTo>
                  <a:lnTo>
                    <a:pt x="9977590" y="289725"/>
                  </a:lnTo>
                  <a:lnTo>
                    <a:pt x="9967747" y="283108"/>
                  </a:lnTo>
                  <a:lnTo>
                    <a:pt x="9955720" y="280682"/>
                  </a:lnTo>
                  <a:lnTo>
                    <a:pt x="5300523" y="280682"/>
                  </a:lnTo>
                  <a:lnTo>
                    <a:pt x="5299278" y="263639"/>
                  </a:lnTo>
                  <a:lnTo>
                    <a:pt x="5289550" y="220014"/>
                  </a:lnTo>
                  <a:lnTo>
                    <a:pt x="5273903" y="178930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40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40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30"/>
                  </a:lnTo>
                  <a:lnTo>
                    <a:pt x="4697082" y="220014"/>
                  </a:lnTo>
                  <a:lnTo>
                    <a:pt x="4687341" y="263639"/>
                  </a:lnTo>
                  <a:lnTo>
                    <a:pt x="4686084" y="280682"/>
                  </a:lnTo>
                  <a:lnTo>
                    <a:pt x="30962" y="280682"/>
                  </a:lnTo>
                  <a:lnTo>
                    <a:pt x="18884" y="283108"/>
                  </a:lnTo>
                  <a:lnTo>
                    <a:pt x="9055" y="289725"/>
                  </a:lnTo>
                  <a:lnTo>
                    <a:pt x="2425" y="299567"/>
                  </a:lnTo>
                  <a:lnTo>
                    <a:pt x="0" y="311632"/>
                  </a:lnTo>
                  <a:lnTo>
                    <a:pt x="0" y="364020"/>
                  </a:lnTo>
                  <a:lnTo>
                    <a:pt x="2425" y="376085"/>
                  </a:lnTo>
                  <a:lnTo>
                    <a:pt x="9055" y="385927"/>
                  </a:lnTo>
                  <a:lnTo>
                    <a:pt x="18884" y="392557"/>
                  </a:lnTo>
                  <a:lnTo>
                    <a:pt x="30962" y="394982"/>
                  </a:lnTo>
                  <a:lnTo>
                    <a:pt x="4696269" y="394982"/>
                  </a:lnTo>
                  <a:lnTo>
                    <a:pt x="4697107" y="398716"/>
                  </a:lnTo>
                  <a:lnTo>
                    <a:pt x="4712779" y="439775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48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48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75"/>
                  </a:lnTo>
                  <a:lnTo>
                    <a:pt x="5289537" y="398716"/>
                  </a:lnTo>
                  <a:lnTo>
                    <a:pt x="5290363" y="394982"/>
                  </a:lnTo>
                  <a:lnTo>
                    <a:pt x="9955720" y="394982"/>
                  </a:lnTo>
                  <a:lnTo>
                    <a:pt x="9967722" y="392557"/>
                  </a:lnTo>
                  <a:lnTo>
                    <a:pt x="9977577" y="385927"/>
                  </a:lnTo>
                  <a:lnTo>
                    <a:pt x="9984219" y="376085"/>
                  </a:lnTo>
                  <a:lnTo>
                    <a:pt x="9986518" y="364807"/>
                  </a:lnTo>
                  <a:lnTo>
                    <a:pt x="9986518" y="31084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801667" y="7781905"/>
            <a:ext cx="5462270" cy="1354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673100">
              <a:lnSpc>
                <a:spcPct val="100000"/>
              </a:lnSpc>
              <a:spcBef>
                <a:spcPts val="135"/>
              </a:spcBef>
            </a:pPr>
            <a:r>
              <a:rPr dirty="0" sz="1900" spc="-5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 spc="90">
                <a:solidFill>
                  <a:srgbClr val="3A362F"/>
                </a:solidFill>
                <a:latin typeface="Cambria"/>
                <a:cs typeface="Cambria"/>
              </a:rPr>
              <a:t>Monitor</a:t>
            </a:r>
            <a:r>
              <a:rPr dirty="0" sz="1850" spc="114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dirty="0" sz="1850" spc="70">
                <a:solidFill>
                  <a:srgbClr val="3A362F"/>
                </a:solidFill>
                <a:latin typeface="Cambria"/>
                <a:cs typeface="Cambria"/>
              </a:rPr>
              <a:t>Trends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50" spc="-50">
                <a:solidFill>
                  <a:srgbClr val="3A362F"/>
                </a:solidFill>
                <a:latin typeface="Trebuchet MS"/>
                <a:cs typeface="Trebuchet MS"/>
              </a:rPr>
              <a:t>Regularly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3A362F"/>
                </a:solidFill>
                <a:latin typeface="Trebuchet MS"/>
                <a:cs typeface="Trebuchet MS"/>
              </a:rPr>
              <a:t>track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50">
                <a:solidFill>
                  <a:srgbClr val="3A362F"/>
                </a:solidFill>
                <a:latin typeface="Trebuchet MS"/>
                <a:cs typeface="Trebuchet MS"/>
              </a:rPr>
              <a:t>location-</a:t>
            </a:r>
            <a:r>
              <a:rPr dirty="0" sz="1550" spc="-45">
                <a:solidFill>
                  <a:srgbClr val="3A362F"/>
                </a:solidFill>
                <a:latin typeface="Trebuchet MS"/>
                <a:cs typeface="Trebuchet MS"/>
              </a:rPr>
              <a:t>wise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45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30">
                <a:solidFill>
                  <a:srgbClr val="3A362F"/>
                </a:solidFill>
                <a:latin typeface="Trebuchet MS"/>
                <a:cs typeface="Trebuchet MS"/>
              </a:rPr>
              <a:t>address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3A362F"/>
                </a:solidFill>
                <a:latin typeface="Trebuchet MS"/>
                <a:cs typeface="Trebuchet MS"/>
              </a:rPr>
              <a:t>issues</a:t>
            </a:r>
            <a:r>
              <a:rPr dirty="0" sz="1550" spc="-105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3A362F"/>
                </a:solidFill>
                <a:latin typeface="Trebuchet MS"/>
                <a:cs typeface="Trebuchet MS"/>
              </a:rPr>
              <a:t>promptly.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92459" y="2818047"/>
            <a:ext cx="8679180" cy="13874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480"/>
              </a:lnSpc>
            </a:pPr>
            <a:r>
              <a:rPr dirty="0" spc="195"/>
              <a:t>Conclusion:</a:t>
            </a:r>
            <a:r>
              <a:rPr dirty="0" spc="200"/>
              <a:t> </a:t>
            </a:r>
            <a:r>
              <a:rPr dirty="0" spc="295"/>
              <a:t>Data-</a:t>
            </a:r>
            <a:r>
              <a:rPr dirty="0" spc="150"/>
              <a:t>Driven</a:t>
            </a:r>
            <a:r>
              <a:rPr dirty="0" spc="200"/>
              <a:t> </a:t>
            </a:r>
            <a:r>
              <a:rPr dirty="0" spc="220"/>
              <a:t>HR</a:t>
            </a:r>
            <a:r>
              <a:rPr dirty="0" spc="200"/>
              <a:t> </a:t>
            </a:r>
            <a:r>
              <a:rPr dirty="0" spc="155"/>
              <a:t>for</a:t>
            </a:r>
            <a:r>
              <a:rPr dirty="0" spc="204"/>
              <a:t> </a:t>
            </a:r>
            <a:r>
              <a:rPr dirty="0" spc="75"/>
              <a:t>a </a:t>
            </a:r>
            <a:r>
              <a:rPr dirty="0" spc="195"/>
              <a:t>Stronger</a:t>
            </a:r>
            <a:r>
              <a:rPr dirty="0" spc="225"/>
              <a:t> </a:t>
            </a:r>
            <a:r>
              <a:rPr dirty="0" spc="185"/>
              <a:t>Workforce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pc="-90"/>
              <a:t>The</a:t>
            </a:r>
            <a:r>
              <a:rPr dirty="0" spc="-204"/>
              <a:t> </a:t>
            </a:r>
            <a:r>
              <a:rPr dirty="0" spc="-25"/>
              <a:t>HR</a:t>
            </a:r>
            <a:r>
              <a:rPr dirty="0" spc="-200"/>
              <a:t> </a:t>
            </a:r>
            <a:r>
              <a:rPr dirty="0" spc="-50"/>
              <a:t>Analysis</a:t>
            </a:r>
            <a:r>
              <a:rPr dirty="0" spc="-200"/>
              <a:t> </a:t>
            </a:r>
            <a:r>
              <a:rPr dirty="0" spc="-235"/>
              <a:t>&amp;</a:t>
            </a:r>
            <a:r>
              <a:rPr dirty="0" spc="-204"/>
              <a:t> </a:t>
            </a:r>
            <a:r>
              <a:rPr dirty="0" spc="-75"/>
              <a:t>Performance</a:t>
            </a:r>
            <a:r>
              <a:rPr dirty="0" spc="-200"/>
              <a:t> </a:t>
            </a:r>
            <a:r>
              <a:rPr dirty="0" spc="-30"/>
              <a:t>Dashboard</a:t>
            </a:r>
            <a:r>
              <a:rPr dirty="0" spc="-200"/>
              <a:t> </a:t>
            </a:r>
            <a:r>
              <a:rPr dirty="0" spc="-95"/>
              <a:t>offers</a:t>
            </a:r>
            <a:r>
              <a:rPr dirty="0" spc="-204"/>
              <a:t> </a:t>
            </a:r>
            <a:r>
              <a:rPr dirty="0" spc="-55"/>
              <a:t>a</a:t>
            </a:r>
            <a:r>
              <a:rPr dirty="0" spc="-200"/>
              <a:t> </a:t>
            </a:r>
            <a:r>
              <a:rPr dirty="0" spc="-100"/>
              <a:t>clear</a:t>
            </a:r>
            <a:r>
              <a:rPr dirty="0" spc="-200"/>
              <a:t> </a:t>
            </a:r>
            <a:r>
              <a:rPr dirty="0" spc="-85"/>
              <a:t>view</a:t>
            </a:r>
            <a:r>
              <a:rPr dirty="0" spc="-204"/>
              <a:t> </a:t>
            </a:r>
            <a:r>
              <a:rPr dirty="0" spc="-95"/>
              <a:t>of</a:t>
            </a:r>
            <a:r>
              <a:rPr dirty="0" spc="-200"/>
              <a:t> </a:t>
            </a:r>
            <a:r>
              <a:rPr dirty="0" spc="-10"/>
              <a:t>attrition, </a:t>
            </a:r>
            <a:r>
              <a:rPr dirty="0" spc="-95"/>
              <a:t>performance,</a:t>
            </a:r>
            <a:r>
              <a:rPr dirty="0" spc="-185"/>
              <a:t> </a:t>
            </a:r>
            <a:r>
              <a:rPr dirty="0" spc="-30"/>
              <a:t>and</a:t>
            </a:r>
            <a:r>
              <a:rPr dirty="0" spc="-180"/>
              <a:t> </a:t>
            </a:r>
            <a:r>
              <a:rPr dirty="0" spc="-80"/>
              <a:t>workforce</a:t>
            </a:r>
            <a:r>
              <a:rPr dirty="0" spc="-180"/>
              <a:t> </a:t>
            </a:r>
            <a:r>
              <a:rPr dirty="0" spc="-80"/>
              <a:t>distribution.</a:t>
            </a:r>
            <a:r>
              <a:rPr dirty="0" spc="-185"/>
              <a:t> </a:t>
            </a:r>
            <a:r>
              <a:rPr dirty="0" spc="-20"/>
              <a:t>Using</a:t>
            </a:r>
            <a:r>
              <a:rPr dirty="0" spc="-180"/>
              <a:t> </a:t>
            </a:r>
            <a:r>
              <a:rPr dirty="0" spc="-80"/>
              <a:t>Python,</a:t>
            </a:r>
            <a:r>
              <a:rPr dirty="0" spc="-180"/>
              <a:t> </a:t>
            </a:r>
            <a:r>
              <a:rPr dirty="0" spc="-65"/>
              <a:t>SQL,</a:t>
            </a:r>
            <a:r>
              <a:rPr dirty="0" spc="-180"/>
              <a:t> </a:t>
            </a:r>
            <a:r>
              <a:rPr dirty="0" spc="-30"/>
              <a:t>and</a:t>
            </a:r>
            <a:r>
              <a:rPr dirty="0" spc="-185"/>
              <a:t> </a:t>
            </a:r>
            <a:r>
              <a:rPr dirty="0" spc="-60"/>
              <a:t>Power</a:t>
            </a:r>
            <a:r>
              <a:rPr dirty="0" spc="-180"/>
              <a:t> </a:t>
            </a:r>
            <a:r>
              <a:rPr dirty="0" spc="-25"/>
              <a:t>BI, </a:t>
            </a:r>
            <a:r>
              <a:rPr dirty="0" spc="-80"/>
              <a:t>key</a:t>
            </a:r>
            <a:r>
              <a:rPr dirty="0" spc="-190"/>
              <a:t> </a:t>
            </a:r>
            <a:r>
              <a:rPr dirty="0" spc="-80"/>
              <a:t>metrics</a:t>
            </a:r>
            <a:r>
              <a:rPr dirty="0" spc="-190"/>
              <a:t> </a:t>
            </a:r>
            <a:r>
              <a:rPr dirty="0" spc="-105"/>
              <a:t>were</a:t>
            </a:r>
            <a:r>
              <a:rPr dirty="0" spc="-190"/>
              <a:t> </a:t>
            </a:r>
            <a:r>
              <a:rPr dirty="0" spc="-70"/>
              <a:t>analyzed</a:t>
            </a:r>
            <a:r>
              <a:rPr dirty="0" spc="-190"/>
              <a:t> </a:t>
            </a:r>
            <a:r>
              <a:rPr dirty="0" spc="-30"/>
              <a:t>and</a:t>
            </a:r>
            <a:r>
              <a:rPr dirty="0" spc="-190"/>
              <a:t> </a:t>
            </a:r>
            <a:r>
              <a:rPr dirty="0" spc="-70"/>
              <a:t>visualized</a:t>
            </a:r>
            <a:r>
              <a:rPr dirty="0" spc="-185"/>
              <a:t> </a:t>
            </a:r>
            <a:r>
              <a:rPr dirty="0" spc="-70"/>
              <a:t>to</a:t>
            </a:r>
            <a:r>
              <a:rPr dirty="0" spc="-190"/>
              <a:t> </a:t>
            </a:r>
            <a:r>
              <a:rPr dirty="0" spc="-95"/>
              <a:t>identify</a:t>
            </a:r>
            <a:r>
              <a:rPr dirty="0" spc="-190"/>
              <a:t> </a:t>
            </a:r>
            <a:r>
              <a:rPr dirty="0" spc="-55"/>
              <a:t>high-</a:t>
            </a:r>
            <a:r>
              <a:rPr dirty="0" spc="-50"/>
              <a:t>risk</a:t>
            </a:r>
            <a:r>
              <a:rPr dirty="0" spc="-190"/>
              <a:t> </a:t>
            </a:r>
            <a:r>
              <a:rPr dirty="0" spc="-10"/>
              <a:t>areas.</a:t>
            </a:r>
          </a:p>
          <a:p>
            <a:pPr>
              <a:lnSpc>
                <a:spcPct val="100000"/>
              </a:lnSpc>
              <a:spcBef>
                <a:spcPts val="260"/>
              </a:spcBef>
            </a:pPr>
          </a:p>
          <a:p>
            <a:pPr marL="12700" marR="35560">
              <a:lnSpc>
                <a:spcPct val="133200"/>
              </a:lnSpc>
            </a:pPr>
            <a:r>
              <a:rPr dirty="0" spc="-50"/>
              <a:t>This</a:t>
            </a:r>
            <a:r>
              <a:rPr dirty="0" spc="-195"/>
              <a:t> </a:t>
            </a:r>
            <a:r>
              <a:rPr dirty="0" spc="-60"/>
              <a:t>enables</a:t>
            </a:r>
            <a:r>
              <a:rPr dirty="0" spc="-190"/>
              <a:t> </a:t>
            </a:r>
            <a:r>
              <a:rPr dirty="0" spc="-25"/>
              <a:t>HR</a:t>
            </a:r>
            <a:r>
              <a:rPr dirty="0" spc="-190"/>
              <a:t> </a:t>
            </a:r>
            <a:r>
              <a:rPr dirty="0" spc="-65"/>
              <a:t>teams</a:t>
            </a:r>
            <a:r>
              <a:rPr dirty="0" spc="-190"/>
              <a:t> </a:t>
            </a:r>
            <a:r>
              <a:rPr dirty="0" spc="-70"/>
              <a:t>to</a:t>
            </a:r>
            <a:r>
              <a:rPr dirty="0" spc="-190"/>
              <a:t> </a:t>
            </a:r>
            <a:r>
              <a:rPr dirty="0" spc="-55"/>
              <a:t>make</a:t>
            </a:r>
            <a:r>
              <a:rPr dirty="0" spc="-190"/>
              <a:t> </a:t>
            </a:r>
            <a:r>
              <a:rPr dirty="0" spc="-85"/>
              <a:t>data-</a:t>
            </a:r>
            <a:r>
              <a:rPr dirty="0" spc="-70"/>
              <a:t>driven</a:t>
            </a:r>
            <a:r>
              <a:rPr dirty="0" spc="-190"/>
              <a:t> </a:t>
            </a:r>
            <a:r>
              <a:rPr dirty="0" spc="-70"/>
              <a:t>decisions,</a:t>
            </a:r>
            <a:r>
              <a:rPr dirty="0" spc="-190"/>
              <a:t> </a:t>
            </a:r>
            <a:r>
              <a:rPr dirty="0" spc="-45"/>
              <a:t>improving</a:t>
            </a:r>
            <a:r>
              <a:rPr dirty="0" spc="-190"/>
              <a:t> </a:t>
            </a:r>
            <a:r>
              <a:rPr dirty="0" spc="-10"/>
              <a:t>employee </a:t>
            </a:r>
            <a:r>
              <a:rPr dirty="0" spc="-105"/>
              <a:t>retention,</a:t>
            </a:r>
            <a:r>
              <a:rPr dirty="0" spc="-165"/>
              <a:t> </a:t>
            </a:r>
            <a:r>
              <a:rPr dirty="0" spc="-80"/>
              <a:t>performance</a:t>
            </a:r>
            <a:r>
              <a:rPr dirty="0" spc="-165"/>
              <a:t> </a:t>
            </a:r>
            <a:r>
              <a:rPr dirty="0" spc="-80"/>
              <a:t>management,</a:t>
            </a:r>
            <a:r>
              <a:rPr dirty="0" spc="-165"/>
              <a:t> </a:t>
            </a:r>
            <a:r>
              <a:rPr dirty="0" spc="-30"/>
              <a:t>and</a:t>
            </a:r>
            <a:r>
              <a:rPr dirty="0" spc="-160"/>
              <a:t> </a:t>
            </a:r>
            <a:r>
              <a:rPr dirty="0" spc="-80"/>
              <a:t>overall</a:t>
            </a:r>
            <a:r>
              <a:rPr dirty="0" spc="-165"/>
              <a:t> </a:t>
            </a:r>
            <a:r>
              <a:rPr dirty="0" spc="-80"/>
              <a:t>workforce</a:t>
            </a:r>
            <a:r>
              <a:rPr dirty="0" spc="-165"/>
              <a:t> </a:t>
            </a:r>
            <a:r>
              <a:rPr dirty="0" spc="-10"/>
              <a:t>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Vemula Vaishnavi</dc:creator>
  <cp:keywords>DAG9v0T8Ei8,BAG8_rojc-Y,0</cp:keywords>
  <dc:title>HR-Analysis-and-Performance-Insights (6).pptx</dc:title>
  <dcterms:created xsi:type="dcterms:W3CDTF">2026-01-07T15:35:46Z</dcterms:created>
  <dcterms:modified xsi:type="dcterms:W3CDTF">2026-01-07T15:35:46Z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2026-01-07T00:00:00Z</vt:filetime>
  </property>
  <property fmtid="{D5CDD505-2E9C-101B-9397-08002B2CF9AE}" pid="5" name="Producer">
    <vt:lpwstr>Canva</vt:lpwstr>
  </property>
</Properties>
</file>